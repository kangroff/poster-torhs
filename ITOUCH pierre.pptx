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4" r:id="rId2"/>
    <p:sldId id="256" r:id="rId3"/>
    <p:sldId id="257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DD35D-1E3D-4148-833B-055C3B9DB4AF}" type="datetimeFigureOut">
              <a:rPr lang="fr-SN" smtClean="0"/>
              <a:t>12/11/2025</a:t>
            </a:fld>
            <a:endParaRPr lang="fr-S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E31BA-CFB5-4ED6-BCE3-226E7D391A2D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393346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7AB0-244B-491B-962A-05D05F405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1C3AD-4381-4ED5-AD84-E977A9DBA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3AC00-2DA9-4F2A-9903-3777725C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EC5E9-F05B-49C8-9A95-C3F034DA3BC6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39B1-B9F2-44B2-A419-2261918F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824C-CAC2-4B56-AD6E-ACEBF6E76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5182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AB07-2700-4805-93CC-917473BE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89ACB-4075-45DE-91BD-EC1D8D48C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F7743-CA5D-462A-906D-D363DBF1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F1D80-4411-4FDD-AC27-9EFA4203D1AE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8523B-EF2F-40A5-B886-9A14F726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5CA1-562A-41BF-9E53-D57D8E19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6549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A42C-EE1D-48A2-8C57-D07F6BC9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93918-E736-4BCE-B55E-8E862DD48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C99C7-76EA-4534-B00D-4FBB44A6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F82B1-8D0A-4837-8C5D-40C644A8329C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22CA-20C8-4775-82A3-7460A029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F58B-AC28-4FC2-8E72-15E4832E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40503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F3A47-37D0-4984-89AE-5AD275FDE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0F018-6DB7-4843-BABE-18F483627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7EDD6-88A9-43F6-A6E8-FED4D86B0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95498-DA14-478E-943B-FDEE0E58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40B06-8F2E-4975-9997-D5A67A5A96D8}" type="datetime1">
              <a:rPr lang="fr-SN" smtClean="0"/>
              <a:t>12/11/2025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385E21-13BE-43E0-9B82-DF5602BB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C5BB8-FDA5-4981-B4BC-DF84A3BD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40073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0C38-6DC5-49E1-B51D-9683EED66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FB24F-175D-4351-BE60-C3EE5F33A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42CEF-8DE4-4726-88EC-F2EEC6F94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6E0EA0-E0B5-4CF8-9648-B3626698A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BE097-2199-4ADB-9157-A891B8AD26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E8CE52-545F-4ABC-95C1-D4D674DA3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2A369-3482-4841-ABB5-D4AA0A485B04}" type="datetime1">
              <a:rPr lang="fr-SN" smtClean="0"/>
              <a:t>12/11/2025</a:t>
            </a:fld>
            <a:endParaRPr lang="fr-S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02A577-120C-45DF-9F08-7354117B2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ADBB45-1F3C-42F1-9A49-679559593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362616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6D031-E266-4B42-A207-5357683F4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7B0BF-7083-4BDA-B8A6-B52829A9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7B674-A4CC-4925-B8C6-F571B9D6C755}" type="datetime1">
              <a:rPr lang="fr-SN" smtClean="0"/>
              <a:t>12/11/2025</a:t>
            </a:fld>
            <a:endParaRPr lang="fr-S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A9C67-8B72-4C6E-B824-767C5BE6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E0ECA-EF22-4429-AE3F-FA4CD6E41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59770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B45E61-FD66-45D9-9FEB-CCEF550B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77683-8F59-462B-B1FF-AB3F865E5B11}" type="datetime1">
              <a:rPr lang="fr-SN" smtClean="0"/>
              <a:t>12/11/2025</a:t>
            </a:fld>
            <a:endParaRPr lang="fr-S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139D4-236A-4328-926B-7B8F9511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1F6FE-DFEC-42A6-8559-3011CB37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28410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4187C-51C0-4822-8160-BB497057D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5C1F-1A36-44EB-8626-F9B493B5F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29083-97F2-48ED-99AF-D1E9F3DB8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2E56E-9FD9-4FDA-9C01-A0982EFBF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C3A1-36B6-408F-B9C4-EC4CFF4BDA4B}" type="datetime1">
              <a:rPr lang="fr-SN" smtClean="0"/>
              <a:t>12/11/2025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F7DAA-F38C-42D3-8DFE-53B0EB3F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01582-C239-4FAD-B85E-476D4246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8882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B4653-8AB7-4653-A33E-FD6AA11E1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2BB4F-8DE8-4DF9-8400-6ADDE26C86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S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264FE-35B3-487B-AAF7-C92196E1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21F33-DCFB-4BDF-8E6C-3A1539422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EFF57-29B1-42E3-822C-9EC89A8C2DFD}" type="datetime1">
              <a:rPr lang="fr-SN" smtClean="0"/>
              <a:t>12/11/2025</a:t>
            </a:fld>
            <a:endParaRPr lang="fr-S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C6AE0-D766-487F-B458-97B86961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13C33-8CE3-4B45-A03C-E2A6E383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539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8E314-925D-4167-AFCF-E5AB3131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9C657-6B6D-46B7-8CB8-CED036CA1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53ED6-CAAC-4150-AF84-AB45595CC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14F94-3711-47E8-A40A-02512C99F034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14A92-DF55-48E8-AC87-08C985A7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87323-73FF-4F3B-A0DB-08E4283E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706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6DCF47-8763-424B-B8D6-96D326F685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2ABA7-CEA1-4360-9DC4-ECA9B96A7A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8E051-DF99-4A35-93C2-F8E082334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C068D-C6BD-4854-AEA0-5A33ABC0FA10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C60B1-8163-4214-BC76-ABD5F62D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8719C-7E3D-4596-914F-E36A7A22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46558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AC930-4B63-485A-9283-FB548CCF1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S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0F101-67AF-45A9-807D-994FA73F6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S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7351B-7E6C-423F-A428-760581199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A8BF8-EDB6-4428-993D-69087C307F56}" type="datetime1">
              <a:rPr lang="fr-SN" smtClean="0"/>
              <a:t>12/11/2025</a:t>
            </a:fld>
            <a:endParaRPr lang="fr-S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3CB61-7EFF-412E-888F-888EDA818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00E9-F1CC-4D5B-B90F-8ED3648AE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5F6FF-3D43-4157-998F-058504204C3C}" type="slidenum">
              <a:rPr lang="fr-SN" smtClean="0"/>
              <a:t>‹#›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7415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jpe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3BA8128-315F-3069-3B9A-EE1BF450A4B5}"/>
              </a:ext>
            </a:extLst>
          </p:cNvPr>
          <p:cNvSpPr/>
          <p:nvPr/>
        </p:nvSpPr>
        <p:spPr>
          <a:xfrm>
            <a:off x="0" y="616449"/>
            <a:ext cx="12192000" cy="244525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FDDB42C-7F23-40FB-9C09-8ABAD4CB002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0" y="0"/>
            <a:ext cx="521318" cy="4727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6FE484-365D-4A59-9D4E-DBB92B46101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9289" y="22153"/>
            <a:ext cx="415050" cy="341724"/>
          </a:xfrm>
          <a:prstGeom prst="rect">
            <a:avLst/>
          </a:prstGeom>
        </p:spPr>
      </p:pic>
      <p:pic>
        <p:nvPicPr>
          <p:cNvPr id="5" name="Image 4" descr="Cirad_Recherche_4cTPR.jpg">
            <a:extLst>
              <a:ext uri="{FF2B5EF4-FFF2-40B4-BE49-F238E27FC236}">
                <a16:creationId xmlns:a16="http://schemas.microsoft.com/office/drawing/2014/main" id="{1C7B4BDF-CFBD-4DD6-8D8C-2A561A37F0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3848253" y="1390"/>
            <a:ext cx="940813" cy="370212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39BD55B8-117A-44CC-A2C1-6053AC8CA15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11399203" y="20655"/>
            <a:ext cx="721974" cy="399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6D1BB6-83E6-4882-BAF8-AFD93C182C8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8413" y="18266"/>
            <a:ext cx="1084475" cy="408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222C66-294C-4715-A9D6-96894D78189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2779" y="-3073"/>
            <a:ext cx="1179216" cy="4265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DEE8537-55CF-41ED-BF05-47284B05B455}"/>
              </a:ext>
            </a:extLst>
          </p:cNvPr>
          <p:cNvSpPr/>
          <p:nvPr/>
        </p:nvSpPr>
        <p:spPr>
          <a:xfrm>
            <a:off x="864499" y="4184197"/>
            <a:ext cx="6156151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Yikiédoin</a:t>
            </a:r>
            <a:r>
              <a:rPr lang="en-US" sz="4400" spc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Raphael</a:t>
            </a:r>
            <a:r>
              <a:rPr lang="en-US" sz="4400" spc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4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Times New Roman"/>
                <a:cs typeface="Times New Roman"/>
                <a:sym typeface="Times New Roman"/>
              </a:rPr>
              <a:t>Sara,</a:t>
            </a:r>
          </a:p>
          <a:p>
            <a:r>
              <a:rPr lang="en-US" sz="32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  <a:sym typeface="Times New Roman"/>
              </a:rPr>
              <a:t>Stage de Master </a:t>
            </a:r>
            <a:r>
              <a:rPr lang="en-US" sz="32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XXX</a:t>
            </a:r>
            <a:endParaRPr lang="fr-SN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5A7BDC-4A06-4702-B048-437BF82D1B4D}"/>
              </a:ext>
            </a:extLst>
          </p:cNvPr>
          <p:cNvSpPr txBox="1"/>
          <p:nvPr/>
        </p:nvSpPr>
        <p:spPr>
          <a:xfrm>
            <a:off x="260659" y="6199375"/>
            <a:ext cx="2926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12/11/2025</a:t>
            </a:r>
            <a:endParaRPr lang="fr-S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4779FC-AEB5-451A-83A1-EBEA74D0A827}"/>
              </a:ext>
            </a:extLst>
          </p:cNvPr>
          <p:cNvSpPr/>
          <p:nvPr/>
        </p:nvSpPr>
        <p:spPr>
          <a:xfrm>
            <a:off x="864499" y="3660977"/>
            <a:ext cx="40102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  <a:sym typeface="Times New Roman"/>
              </a:rPr>
              <a:t>présenté</a:t>
            </a:r>
            <a:r>
              <a:rPr lang="fr-FR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  <a:sym typeface="Times New Roman"/>
              </a:rPr>
              <a:t> </a:t>
            </a:r>
            <a:r>
              <a:rPr lang="fr-FR" sz="2800" spc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  <a:sym typeface="Times New Roman"/>
              </a:rPr>
              <a:t>par</a:t>
            </a:r>
            <a:endParaRPr lang="fr-FR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7CB8E30-D4BA-D2F9-5373-562DABC95C43}"/>
              </a:ext>
            </a:extLst>
          </p:cNvPr>
          <p:cNvSpPr>
            <a:spLocks/>
          </p:cNvSpPr>
          <p:nvPr/>
        </p:nvSpPr>
        <p:spPr bwMode="auto">
          <a:xfrm>
            <a:off x="2161017" y="-43796"/>
            <a:ext cx="81609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endParaRPr lang="fr-FR" sz="4800" kern="0" dirty="0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Projet</a:t>
            </a:r>
            <a:r>
              <a:rPr lang="en-US" sz="4800" b="1" dirty="0">
                <a:solidFill>
                  <a:schemeClr val="bg1"/>
                </a:solidFill>
              </a:rPr>
              <a:t> “</a:t>
            </a:r>
            <a:r>
              <a:rPr lang="en-US" sz="4800" b="1" dirty="0" err="1">
                <a:solidFill>
                  <a:schemeClr val="bg1"/>
                </a:solidFill>
              </a:rPr>
              <a:t>TorHs</a:t>
            </a:r>
            <a:r>
              <a:rPr lang="en-US" sz="4800" b="1" dirty="0">
                <a:solidFill>
                  <a:schemeClr val="bg1"/>
                </a:solidFill>
              </a:rPr>
              <a:t>”</a:t>
            </a:r>
            <a:endParaRPr lang="fr-FR" sz="4800" dirty="0">
              <a:solidFill>
                <a:schemeClr val="bg1"/>
              </a:solidFill>
            </a:endParaRPr>
          </a:p>
        </p:txBody>
      </p:sp>
      <p:sp>
        <p:nvSpPr>
          <p:cNvPr id="14" name="ZoneTexte 6">
            <a:extLst>
              <a:ext uri="{FF2B5EF4-FFF2-40B4-BE49-F238E27FC236}">
                <a16:creationId xmlns:a16="http://schemas.microsoft.com/office/drawing/2014/main" id="{268466F3-9847-D38B-D57F-D186796F3D8C}"/>
              </a:ext>
            </a:extLst>
          </p:cNvPr>
          <p:cNvSpPr txBox="1"/>
          <p:nvPr/>
        </p:nvSpPr>
        <p:spPr bwMode="auto">
          <a:xfrm>
            <a:off x="2225497" y="1482004"/>
            <a:ext cx="7647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Tangible object recognition for hybrid simulations 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546EAAFE-76CD-6FA1-39A2-BA1D94F5A7ED}"/>
              </a:ext>
            </a:extLst>
          </p:cNvPr>
          <p:cNvSpPr txBox="1"/>
          <p:nvPr/>
        </p:nvSpPr>
        <p:spPr bwMode="auto">
          <a:xfrm>
            <a:off x="1593415" y="2089615"/>
            <a:ext cx="9009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Associer jeu-sérieux et simulation informatique afin de renforcer </a:t>
            </a:r>
            <a:br>
              <a:rPr lang="fr-FR" sz="2400" dirty="0">
                <a:solidFill>
                  <a:schemeClr val="bg1"/>
                </a:solidFill>
              </a:rPr>
            </a:br>
            <a:r>
              <a:rPr lang="fr-FR" sz="2400" dirty="0">
                <a:solidFill>
                  <a:schemeClr val="bg1"/>
                </a:solidFill>
              </a:rPr>
              <a:t>le dialogue science - société pour la gestion des ressources naturelles </a:t>
            </a:r>
          </a:p>
        </p:txBody>
      </p:sp>
      <p:pic>
        <p:nvPicPr>
          <p:cNvPr id="20" name="Image 6">
            <a:extLst>
              <a:ext uri="{FF2B5EF4-FFF2-40B4-BE49-F238E27FC236}">
                <a16:creationId xmlns:a16="http://schemas.microsoft.com/office/drawing/2014/main" id="{BF748A1A-698B-62E8-D8EA-C17515FBB1C0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2172" y="3318702"/>
            <a:ext cx="4787037" cy="3127317"/>
          </a:xfrm>
          <a:prstGeom prst="rect">
            <a:avLst/>
          </a:prstGeom>
          <a:effectLst>
            <a:outerShdw blurRad="263822" dist="117078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5188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1FC46A-F7C4-49CF-A6DA-7124A1204BEE}"/>
              </a:ext>
            </a:extLst>
          </p:cNvPr>
          <p:cNvSpPr/>
          <p:nvPr/>
        </p:nvSpPr>
        <p:spPr>
          <a:xfrm>
            <a:off x="0" y="1255"/>
            <a:ext cx="12192000" cy="3275348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0FE9A5-8345-4F9E-9B5A-9F0856E22B44}"/>
              </a:ext>
            </a:extLst>
          </p:cNvPr>
          <p:cNvSpPr txBox="1"/>
          <p:nvPr/>
        </p:nvSpPr>
        <p:spPr>
          <a:xfrm>
            <a:off x="4555957" y="-49375"/>
            <a:ext cx="30800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Objectif</a:t>
            </a:r>
            <a:endParaRPr lang="fr-SN" sz="54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DD60F-5683-49E6-AD1F-D821AC19D9C8}"/>
              </a:ext>
            </a:extLst>
          </p:cNvPr>
          <p:cNvSpPr txBox="1"/>
          <p:nvPr/>
        </p:nvSpPr>
        <p:spPr>
          <a:xfrm>
            <a:off x="1233592" y="644964"/>
            <a:ext cx="9724813" cy="29238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Concevoir et développer un plateau de jeu interactif utilisant la technologie RFID 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(radio </a:t>
            </a:r>
            <a:r>
              <a:rPr lang="fr-FR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frequency</a:t>
            </a:r>
            <a:r>
              <a:rPr lang="fr-FR" sz="16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 identification)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 et Capacitive </a:t>
            </a:r>
            <a:r>
              <a:rPr lang="fr-FR" sz="1600" dirty="0">
                <a:solidFill>
                  <a:prstClr val="white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(magnétique)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pour la détection et l’identification automatiques de jetons manipulés par des acteurs dans le cadre de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jeu-sérieux hybridés à des simulations informatiques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.</a:t>
            </a:r>
          </a:p>
          <a:p>
            <a:pPr algn="just"/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Roboto Slab"/>
              <a:cs typeface="Times New Roman" panose="02020603050405020304" pitchFamily="18" charset="0"/>
              <a:sym typeface="Roboto Slab"/>
            </a:endParaRPr>
          </a:p>
          <a:p>
            <a:pPr algn="just"/>
            <a:r>
              <a:rPr lang="fr-SN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Le plateau numérique doit intégrer une interface de communication bidirectionnelle afin d’échanger des instructions via des </a:t>
            </a:r>
            <a:r>
              <a:rPr lang="fr-SN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webSockets</a:t>
            </a:r>
            <a:r>
              <a:rPr lang="fr-SN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 pour interagir avec des plateformes de simulation multi-agent, telles que </a:t>
            </a:r>
            <a:r>
              <a:rPr lang="fr-SN" sz="2000" i="1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Cormas-Pharo</a:t>
            </a:r>
            <a:r>
              <a:rPr lang="fr-SN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 ou </a:t>
            </a:r>
            <a:r>
              <a:rPr lang="fr-SN" sz="2000" i="1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Gama</a:t>
            </a:r>
            <a:r>
              <a:rPr lang="fr-SN" sz="2000" dirty="0">
                <a:solidFill>
                  <a:schemeClr val="bg1"/>
                </a:solidFill>
                <a:latin typeface="Times New Roman" panose="02020603050405020304" pitchFamily="18" charset="0"/>
                <a:ea typeface="Roboto Slab"/>
                <a:cs typeface="Times New Roman" panose="02020603050405020304" pitchFamily="18" charset="0"/>
                <a:sym typeface="Roboto Slab"/>
              </a:rPr>
              <a:t>.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ea typeface="Roboto Slab"/>
              <a:cs typeface="Times New Roman" panose="02020603050405020304" pitchFamily="18" charset="0"/>
              <a:sym typeface="Roboto Slab"/>
            </a:endParaRPr>
          </a:p>
          <a:p>
            <a:pPr algn="just"/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D0E8A58-CB14-4474-9AFB-CDFD15CC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6704" y="6444660"/>
            <a:ext cx="2743200" cy="365125"/>
          </a:xfrm>
        </p:spPr>
        <p:txBody>
          <a:bodyPr/>
          <a:lstStyle/>
          <a:p>
            <a:fld id="{65A5F6FF-3D43-4157-998F-058504204C3C}" type="slidenum">
              <a:rPr lang="fr-SN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fr-S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137B95F5-D5FA-99E0-DE8B-C3BD1606AE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966622" y="3784976"/>
            <a:ext cx="4064505" cy="2655295"/>
          </a:xfrm>
          <a:prstGeom prst="rect">
            <a:avLst/>
          </a:prstGeom>
          <a:effectLst>
            <a:outerShdw blurRad="263822" dist="117078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BA1E9C27-C7E8-9BA5-C388-FAE96E8149E4}"/>
              </a:ext>
            </a:extLst>
          </p:cNvPr>
          <p:cNvGrpSpPr/>
          <p:nvPr/>
        </p:nvGrpSpPr>
        <p:grpSpPr>
          <a:xfrm>
            <a:off x="2869955" y="3348057"/>
            <a:ext cx="2184715" cy="2170599"/>
            <a:chOff x="1621034" y="3279804"/>
            <a:chExt cx="2184715" cy="2170599"/>
          </a:xfrm>
        </p:grpSpPr>
        <p:grpSp>
          <p:nvGrpSpPr>
            <p:cNvPr id="3" name="Groupe 24">
              <a:extLst>
                <a:ext uri="{FF2B5EF4-FFF2-40B4-BE49-F238E27FC236}">
                  <a16:creationId xmlns:a16="http://schemas.microsoft.com/office/drawing/2014/main" id="{6A79697E-4E5D-F91B-AA3D-A2F4619B8495}"/>
                </a:ext>
              </a:extLst>
            </p:cNvPr>
            <p:cNvGrpSpPr/>
            <p:nvPr/>
          </p:nvGrpSpPr>
          <p:grpSpPr>
            <a:xfrm>
              <a:off x="2016735" y="3647900"/>
              <a:ext cx="1423772" cy="1354893"/>
              <a:chOff x="7121305" y="3632290"/>
              <a:chExt cx="1423772" cy="1354893"/>
            </a:xfrm>
          </p:grpSpPr>
          <p:cxnSp>
            <p:nvCxnSpPr>
              <p:cNvPr id="4" name="Connecteur droit 17">
                <a:extLst>
                  <a:ext uri="{FF2B5EF4-FFF2-40B4-BE49-F238E27FC236}">
                    <a16:creationId xmlns:a16="http://schemas.microsoft.com/office/drawing/2014/main" id="{14FB6063-4DA6-7EDF-B266-8AFE9BC56C48}"/>
                  </a:ext>
                </a:extLst>
              </p:cNvPr>
              <p:cNvCxnSpPr/>
              <p:nvPr/>
            </p:nvCxnSpPr>
            <p:spPr>
              <a:xfrm>
                <a:off x="7466365" y="3632290"/>
                <a:ext cx="740759" cy="135489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Connecteur droit 18">
                <a:extLst>
                  <a:ext uri="{FF2B5EF4-FFF2-40B4-BE49-F238E27FC236}">
                    <a16:creationId xmlns:a16="http://schemas.microsoft.com/office/drawing/2014/main" id="{734F3873-84DF-9273-2515-D758A4D839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21305" y="4291566"/>
                <a:ext cx="1423772" cy="1347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eur droit 21">
                <a:extLst>
                  <a:ext uri="{FF2B5EF4-FFF2-40B4-BE49-F238E27FC236}">
                    <a16:creationId xmlns:a16="http://schemas.microsoft.com/office/drawing/2014/main" id="{08E3B8D1-AC78-60BE-0DA8-90BF6EA068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76638" y="3673996"/>
                <a:ext cx="723380" cy="1313187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Hexagone 15">
              <a:extLst>
                <a:ext uri="{FF2B5EF4-FFF2-40B4-BE49-F238E27FC236}">
                  <a16:creationId xmlns:a16="http://schemas.microsoft.com/office/drawing/2014/main" id="{5979C0AE-8373-C258-E9CE-3378AD915F07}"/>
                </a:ext>
              </a:extLst>
            </p:cNvPr>
            <p:cNvSpPr/>
            <p:nvPr/>
          </p:nvSpPr>
          <p:spPr>
            <a:xfrm>
              <a:off x="2078197" y="3689606"/>
              <a:ext cx="1290575" cy="1243173"/>
            </a:xfrm>
            <a:prstGeom prst="hexagon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0" name="Groupe 13">
              <a:extLst>
                <a:ext uri="{FF2B5EF4-FFF2-40B4-BE49-F238E27FC236}">
                  <a16:creationId xmlns:a16="http://schemas.microsoft.com/office/drawing/2014/main" id="{8799C9CE-102D-0A9C-FD7A-3C1DBF7FB4FA}"/>
                </a:ext>
              </a:extLst>
            </p:cNvPr>
            <p:cNvGrpSpPr/>
            <p:nvPr/>
          </p:nvGrpSpPr>
          <p:grpSpPr>
            <a:xfrm>
              <a:off x="1621034" y="3279804"/>
              <a:ext cx="2184715" cy="2170599"/>
              <a:chOff x="6725604" y="3224438"/>
              <a:chExt cx="2184715" cy="2170599"/>
            </a:xfrm>
          </p:grpSpPr>
          <p:sp>
            <p:nvSpPr>
              <p:cNvPr id="12" name="Hexagone 4">
                <a:extLst>
                  <a:ext uri="{FF2B5EF4-FFF2-40B4-BE49-F238E27FC236}">
                    <a16:creationId xmlns:a16="http://schemas.microsoft.com/office/drawing/2014/main" id="{4E0F400D-8B45-1D06-0188-B7F9FBE57680}"/>
                  </a:ext>
                </a:extLst>
              </p:cNvPr>
              <p:cNvSpPr/>
              <p:nvPr/>
            </p:nvSpPr>
            <p:spPr>
              <a:xfrm rot="5400000">
                <a:off x="6669349" y="3959203"/>
                <a:ext cx="815706" cy="703195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Hexagone 5">
                <a:extLst>
                  <a:ext uri="{FF2B5EF4-FFF2-40B4-BE49-F238E27FC236}">
                    <a16:creationId xmlns:a16="http://schemas.microsoft.com/office/drawing/2014/main" id="{3E21EF2F-4CA4-CF6B-B1A7-38E3DC8F9ADE}"/>
                  </a:ext>
                </a:extLst>
              </p:cNvPr>
              <p:cNvSpPr/>
              <p:nvPr/>
            </p:nvSpPr>
            <p:spPr>
              <a:xfrm rot="5400000">
                <a:off x="7410110" y="3959203"/>
                <a:ext cx="815706" cy="703195"/>
              </a:xfrm>
              <a:prstGeom prst="hexagon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Hexagone 6">
                <a:extLst>
                  <a:ext uri="{FF2B5EF4-FFF2-40B4-BE49-F238E27FC236}">
                    <a16:creationId xmlns:a16="http://schemas.microsoft.com/office/drawing/2014/main" id="{83E2D40F-F51E-B036-7ECA-567138E68FDA}"/>
                  </a:ext>
                </a:extLst>
              </p:cNvPr>
              <p:cNvSpPr/>
              <p:nvPr/>
            </p:nvSpPr>
            <p:spPr>
              <a:xfrm rot="5400000">
                <a:off x="7044866" y="4635586"/>
                <a:ext cx="815706" cy="703195"/>
              </a:xfrm>
              <a:prstGeom prst="hexagon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Hexagone 7">
                <a:extLst>
                  <a:ext uri="{FF2B5EF4-FFF2-40B4-BE49-F238E27FC236}">
                    <a16:creationId xmlns:a16="http://schemas.microsoft.com/office/drawing/2014/main" id="{C7E506DD-FCCC-0063-21A9-369F0FBCEEDE}"/>
                  </a:ext>
                </a:extLst>
              </p:cNvPr>
              <p:cNvSpPr/>
              <p:nvPr/>
            </p:nvSpPr>
            <p:spPr>
              <a:xfrm rot="5400000">
                <a:off x="7785626" y="4635586"/>
                <a:ext cx="815706" cy="703195"/>
              </a:xfrm>
              <a:prstGeom prst="hexagon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Hexagone 8">
                <a:extLst>
                  <a:ext uri="{FF2B5EF4-FFF2-40B4-BE49-F238E27FC236}">
                    <a16:creationId xmlns:a16="http://schemas.microsoft.com/office/drawing/2014/main" id="{9847CA41-2A30-369A-DA2A-9BF8BC97FF68}"/>
                  </a:ext>
                </a:extLst>
              </p:cNvPr>
              <p:cNvSpPr/>
              <p:nvPr/>
            </p:nvSpPr>
            <p:spPr>
              <a:xfrm rot="5400000">
                <a:off x="7032701" y="3280693"/>
                <a:ext cx="815706" cy="703195"/>
              </a:xfrm>
              <a:prstGeom prst="hexagon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1" name="Hexagone 9">
                <a:extLst>
                  <a:ext uri="{FF2B5EF4-FFF2-40B4-BE49-F238E27FC236}">
                    <a16:creationId xmlns:a16="http://schemas.microsoft.com/office/drawing/2014/main" id="{63BDF293-8D28-1BA5-F033-E2F2DD2ABEFA}"/>
                  </a:ext>
                </a:extLst>
              </p:cNvPr>
              <p:cNvSpPr/>
              <p:nvPr/>
            </p:nvSpPr>
            <p:spPr>
              <a:xfrm rot="5400000">
                <a:off x="8150869" y="3956615"/>
                <a:ext cx="815706" cy="703195"/>
              </a:xfrm>
              <a:prstGeom prst="hexagon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2" name="Hexagone 10">
                <a:extLst>
                  <a:ext uri="{FF2B5EF4-FFF2-40B4-BE49-F238E27FC236}">
                    <a16:creationId xmlns:a16="http://schemas.microsoft.com/office/drawing/2014/main" id="{F7A44455-DA26-2A6E-60B0-8D7D02B506B8}"/>
                  </a:ext>
                </a:extLst>
              </p:cNvPr>
              <p:cNvSpPr/>
              <p:nvPr/>
            </p:nvSpPr>
            <p:spPr>
              <a:xfrm rot="5400000">
                <a:off x="7775353" y="3280693"/>
                <a:ext cx="815706" cy="703195"/>
              </a:xfrm>
              <a:prstGeom prst="hexago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578C417-0911-0D07-9069-2DBFFF70C5F8}"/>
              </a:ext>
            </a:extLst>
          </p:cNvPr>
          <p:cNvGrpSpPr/>
          <p:nvPr/>
        </p:nvGrpSpPr>
        <p:grpSpPr>
          <a:xfrm rot="14671684">
            <a:off x="2210608" y="4283446"/>
            <a:ext cx="463304" cy="381562"/>
            <a:chOff x="4555957" y="4661452"/>
            <a:chExt cx="463304" cy="381562"/>
          </a:xfrm>
        </p:grpSpPr>
        <p:sp>
          <p:nvSpPr>
            <p:cNvPr id="27" name="Block Arc 26">
              <a:extLst>
                <a:ext uri="{FF2B5EF4-FFF2-40B4-BE49-F238E27FC236}">
                  <a16:creationId xmlns:a16="http://schemas.microsoft.com/office/drawing/2014/main" id="{68155276-16CD-C39D-C36E-DB584160F8FB}"/>
                </a:ext>
              </a:extLst>
            </p:cNvPr>
            <p:cNvSpPr/>
            <p:nvPr/>
          </p:nvSpPr>
          <p:spPr>
            <a:xfrm>
              <a:off x="4555957" y="4661452"/>
              <a:ext cx="463304" cy="228600"/>
            </a:xfrm>
            <a:prstGeom prst="blockArc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8" name="Block Arc 27">
              <a:extLst>
                <a:ext uri="{FF2B5EF4-FFF2-40B4-BE49-F238E27FC236}">
                  <a16:creationId xmlns:a16="http://schemas.microsoft.com/office/drawing/2014/main" id="{8E3BE177-FE90-A528-0C14-86A56A16D18E}"/>
                </a:ext>
              </a:extLst>
            </p:cNvPr>
            <p:cNvSpPr/>
            <p:nvPr/>
          </p:nvSpPr>
          <p:spPr>
            <a:xfrm>
              <a:off x="4628845" y="4784035"/>
              <a:ext cx="320842" cy="218758"/>
            </a:xfrm>
            <a:prstGeom prst="blockArc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29" name="Block Arc 28">
              <a:extLst>
                <a:ext uri="{FF2B5EF4-FFF2-40B4-BE49-F238E27FC236}">
                  <a16:creationId xmlns:a16="http://schemas.microsoft.com/office/drawing/2014/main" id="{1D4F7EBF-19AE-07AD-EF9E-C795DFD35025}"/>
                </a:ext>
              </a:extLst>
            </p:cNvPr>
            <p:cNvSpPr/>
            <p:nvPr/>
          </p:nvSpPr>
          <p:spPr>
            <a:xfrm>
              <a:off x="4703388" y="4926026"/>
              <a:ext cx="168442" cy="116988"/>
            </a:xfrm>
            <a:prstGeom prst="blockArc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8F25887-6BAE-3EA1-F2AA-32FE11C07AF3}"/>
              </a:ext>
            </a:extLst>
          </p:cNvPr>
          <p:cNvGrpSpPr/>
          <p:nvPr/>
        </p:nvGrpSpPr>
        <p:grpSpPr>
          <a:xfrm rot="4289050">
            <a:off x="1756427" y="4918815"/>
            <a:ext cx="463304" cy="381562"/>
            <a:chOff x="4555957" y="4661452"/>
            <a:chExt cx="463304" cy="381562"/>
          </a:xfrm>
          <a:solidFill>
            <a:srgbClr val="00B0F0"/>
          </a:solidFill>
        </p:grpSpPr>
        <p:sp>
          <p:nvSpPr>
            <p:cNvPr id="32" name="Block Arc 31">
              <a:extLst>
                <a:ext uri="{FF2B5EF4-FFF2-40B4-BE49-F238E27FC236}">
                  <a16:creationId xmlns:a16="http://schemas.microsoft.com/office/drawing/2014/main" id="{460009B8-EE62-AD7D-643A-6F2E3912509E}"/>
                </a:ext>
              </a:extLst>
            </p:cNvPr>
            <p:cNvSpPr/>
            <p:nvPr/>
          </p:nvSpPr>
          <p:spPr>
            <a:xfrm>
              <a:off x="4555957" y="4661452"/>
              <a:ext cx="463304" cy="228600"/>
            </a:xfrm>
            <a:prstGeom prst="blockArc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EB8FCDF3-AEC1-2AC4-1150-5B10882C7330}"/>
                </a:ext>
              </a:extLst>
            </p:cNvPr>
            <p:cNvSpPr/>
            <p:nvPr/>
          </p:nvSpPr>
          <p:spPr>
            <a:xfrm>
              <a:off x="4628845" y="4784035"/>
              <a:ext cx="320842" cy="218758"/>
            </a:xfrm>
            <a:prstGeom prst="blockArc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6CCBBFC7-2535-8DBC-B503-9CF1F8BFD06C}"/>
                </a:ext>
              </a:extLst>
            </p:cNvPr>
            <p:cNvSpPr/>
            <p:nvPr/>
          </p:nvSpPr>
          <p:spPr>
            <a:xfrm>
              <a:off x="4703388" y="4926026"/>
              <a:ext cx="168442" cy="116988"/>
            </a:xfrm>
            <a:prstGeom prst="blockArc">
              <a:avLst/>
            </a:prstGeom>
            <a:grp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pic>
        <p:nvPicPr>
          <p:cNvPr id="35" name="Image 5" descr="CormasLogoFull.png">
            <a:extLst>
              <a:ext uri="{FF2B5EF4-FFF2-40B4-BE49-F238E27FC236}">
                <a16:creationId xmlns:a16="http://schemas.microsoft.com/office/drawing/2014/main" id="{37485FBC-9EF5-D6DB-7D54-D340B53700C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8" y="5846066"/>
            <a:ext cx="703197" cy="98177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50B27DE-2166-2AF9-A1EB-FEAA1ED4C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1434" y="5887531"/>
            <a:ext cx="673995" cy="67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Grouper 17">
            <a:extLst>
              <a:ext uri="{FF2B5EF4-FFF2-40B4-BE49-F238E27FC236}">
                <a16:creationId xmlns:a16="http://schemas.microsoft.com/office/drawing/2014/main" id="{67A84728-6386-AA61-1A36-C26EFB8D3FD9}"/>
              </a:ext>
            </a:extLst>
          </p:cNvPr>
          <p:cNvGrpSpPr/>
          <p:nvPr/>
        </p:nvGrpSpPr>
        <p:grpSpPr>
          <a:xfrm>
            <a:off x="4494996" y="4255814"/>
            <a:ext cx="175713" cy="266175"/>
            <a:chOff x="291484" y="3727004"/>
            <a:chExt cx="363301" cy="770387"/>
          </a:xfrm>
          <a:gradFill flip="none" rotWithShape="1">
            <a:gsLst>
              <a:gs pos="0">
                <a:srgbClr val="FF6600"/>
              </a:gs>
              <a:gs pos="100000">
                <a:srgbClr val="FFFFFF"/>
              </a:gs>
            </a:gsLst>
            <a:lin ang="10020000" scaled="0"/>
            <a:tileRect/>
          </a:gradFill>
          <a:effectLst>
            <a:reflection blurRad="6350" stA="52000" endA="300" endPos="35000" dir="5400000" sy="-100000" algn="bl" rotWithShape="0"/>
          </a:effectLst>
        </p:grpSpPr>
        <p:sp>
          <p:nvSpPr>
            <p:cNvPr id="44" name="Cylindre 42">
              <a:extLst>
                <a:ext uri="{FF2B5EF4-FFF2-40B4-BE49-F238E27FC236}">
                  <a16:creationId xmlns:a16="http://schemas.microsoft.com/office/drawing/2014/main" id="{0687352C-C918-76F5-F601-10AB21F9AA35}"/>
                </a:ext>
              </a:extLst>
            </p:cNvPr>
            <p:cNvSpPr/>
            <p:nvPr/>
          </p:nvSpPr>
          <p:spPr>
            <a:xfrm>
              <a:off x="353171" y="4060142"/>
              <a:ext cx="239154" cy="437249"/>
            </a:xfrm>
            <a:prstGeom prst="can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Ellipse 43">
              <a:extLst>
                <a:ext uri="{FF2B5EF4-FFF2-40B4-BE49-F238E27FC236}">
                  <a16:creationId xmlns:a16="http://schemas.microsoft.com/office/drawing/2014/main" id="{D0B17DCC-EB8C-CE87-CEEF-69473F0413BA}"/>
                </a:ext>
              </a:extLst>
            </p:cNvPr>
            <p:cNvSpPr/>
            <p:nvPr/>
          </p:nvSpPr>
          <p:spPr>
            <a:xfrm>
              <a:off x="291484" y="3727004"/>
              <a:ext cx="363301" cy="395604"/>
            </a:xfrm>
            <a:prstGeom prst="ellipse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er 16">
            <a:extLst>
              <a:ext uri="{FF2B5EF4-FFF2-40B4-BE49-F238E27FC236}">
                <a16:creationId xmlns:a16="http://schemas.microsoft.com/office/drawing/2014/main" id="{A44356FF-CCA0-B15D-BC85-2CAE3A85C86E}"/>
              </a:ext>
            </a:extLst>
          </p:cNvPr>
          <p:cNvGrpSpPr/>
          <p:nvPr/>
        </p:nvGrpSpPr>
        <p:grpSpPr>
          <a:xfrm>
            <a:off x="3404948" y="4852364"/>
            <a:ext cx="243331" cy="360334"/>
            <a:chOff x="291484" y="3727004"/>
            <a:chExt cx="363301" cy="770387"/>
          </a:xfrm>
          <a:gradFill flip="none" rotWithShape="1">
            <a:gsLst>
              <a:gs pos="6000">
                <a:srgbClr val="FF0000"/>
              </a:gs>
              <a:gs pos="100000">
                <a:srgbClr val="FFFFFF"/>
              </a:gs>
            </a:gsLst>
            <a:lin ang="10380000" scaled="0"/>
            <a:tileRect/>
          </a:gradFill>
          <a:effectLst>
            <a:reflection blurRad="6350" stA="52000" endA="300" endPos="35000" dir="5400000" sy="-100000" algn="bl" rotWithShape="0"/>
          </a:effectLst>
        </p:grpSpPr>
        <p:sp>
          <p:nvSpPr>
            <p:cNvPr id="42" name="Cylindre 40">
              <a:extLst>
                <a:ext uri="{FF2B5EF4-FFF2-40B4-BE49-F238E27FC236}">
                  <a16:creationId xmlns:a16="http://schemas.microsoft.com/office/drawing/2014/main" id="{F461D84F-619F-92B2-F884-E957F6AAAB3D}"/>
                </a:ext>
              </a:extLst>
            </p:cNvPr>
            <p:cNvSpPr/>
            <p:nvPr/>
          </p:nvSpPr>
          <p:spPr>
            <a:xfrm>
              <a:off x="353171" y="4060142"/>
              <a:ext cx="239154" cy="437249"/>
            </a:xfrm>
            <a:prstGeom prst="can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Ellipse 41">
              <a:extLst>
                <a:ext uri="{FF2B5EF4-FFF2-40B4-BE49-F238E27FC236}">
                  <a16:creationId xmlns:a16="http://schemas.microsoft.com/office/drawing/2014/main" id="{A78F3141-F687-AC40-4691-2F6C86971680}"/>
                </a:ext>
              </a:extLst>
            </p:cNvPr>
            <p:cNvSpPr/>
            <p:nvPr/>
          </p:nvSpPr>
          <p:spPr>
            <a:xfrm>
              <a:off x="291484" y="3727004"/>
              <a:ext cx="363301" cy="395604"/>
            </a:xfrm>
            <a:prstGeom prst="ellipse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A6E3181-55A5-96B4-1A41-4E665879BF54}"/>
              </a:ext>
            </a:extLst>
          </p:cNvPr>
          <p:cNvGrpSpPr/>
          <p:nvPr/>
        </p:nvGrpSpPr>
        <p:grpSpPr>
          <a:xfrm>
            <a:off x="231635" y="4335770"/>
            <a:ext cx="1532954" cy="1198368"/>
            <a:chOff x="231635" y="4335770"/>
            <a:chExt cx="1532954" cy="119836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D0D1A65-08E1-D9D5-1B94-95A5A76C2B4E}"/>
                </a:ext>
              </a:extLst>
            </p:cNvPr>
            <p:cNvGrpSpPr/>
            <p:nvPr/>
          </p:nvGrpSpPr>
          <p:grpSpPr>
            <a:xfrm>
              <a:off x="231635" y="4335770"/>
              <a:ext cx="1532954" cy="1198368"/>
              <a:chOff x="1883534" y="5708794"/>
              <a:chExt cx="1219020" cy="894953"/>
            </a:xfrm>
          </p:grpSpPr>
          <p:pic>
            <p:nvPicPr>
              <p:cNvPr id="23" name="Picture 2" descr="computer | History, Parts, Networking, Operating Systems, &amp; Facts |  Britannica">
                <a:extLst>
                  <a:ext uri="{FF2B5EF4-FFF2-40B4-BE49-F238E27FC236}">
                    <a16:creationId xmlns:a16="http://schemas.microsoft.com/office/drawing/2014/main" id="{6271C7C1-6B6C-154D-F21B-C857B41601F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883534" y="5708794"/>
                <a:ext cx="1219020" cy="894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Image 14">
                <a:extLst>
                  <a:ext uri="{FF2B5EF4-FFF2-40B4-BE49-F238E27FC236}">
                    <a16:creationId xmlns:a16="http://schemas.microsoft.com/office/drawing/2014/main" id="{652C9E0F-D74C-99D5-B1CD-4D7A20C779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 rot="895501">
                <a:off x="2545884" y="5880104"/>
                <a:ext cx="298430" cy="298430"/>
              </a:xfrm>
              <a:prstGeom prst="rect">
                <a:avLst/>
              </a:prstGeom>
            </p:spPr>
          </p:pic>
        </p:grpSp>
        <p:grpSp>
          <p:nvGrpSpPr>
            <p:cNvPr id="46" name="Grouper 17">
              <a:extLst>
                <a:ext uri="{FF2B5EF4-FFF2-40B4-BE49-F238E27FC236}">
                  <a16:creationId xmlns:a16="http://schemas.microsoft.com/office/drawing/2014/main" id="{4B6ED671-C826-2459-1096-3A2480A95C60}"/>
                </a:ext>
              </a:extLst>
            </p:cNvPr>
            <p:cNvGrpSpPr/>
            <p:nvPr/>
          </p:nvGrpSpPr>
          <p:grpSpPr>
            <a:xfrm rot="954141">
              <a:off x="1328496" y="4765156"/>
              <a:ext cx="45719" cy="51005"/>
              <a:chOff x="291484" y="3727004"/>
              <a:chExt cx="363301" cy="770387"/>
            </a:xfrm>
            <a:gradFill flip="none" rotWithShape="1">
              <a:gsLst>
                <a:gs pos="0">
                  <a:srgbClr val="FF6600"/>
                </a:gs>
                <a:gs pos="100000">
                  <a:srgbClr val="FFFFFF"/>
                </a:gs>
              </a:gsLst>
              <a:lin ang="10020000" scaled="0"/>
              <a:tileRect/>
            </a:gradFill>
            <a:effectLst/>
          </p:grpSpPr>
          <p:sp>
            <p:nvSpPr>
              <p:cNvPr id="47" name="Cylindre 42">
                <a:extLst>
                  <a:ext uri="{FF2B5EF4-FFF2-40B4-BE49-F238E27FC236}">
                    <a16:creationId xmlns:a16="http://schemas.microsoft.com/office/drawing/2014/main" id="{CB4FC84C-DA58-4C76-4874-C98676EF83BC}"/>
                  </a:ext>
                </a:extLst>
              </p:cNvPr>
              <p:cNvSpPr/>
              <p:nvPr/>
            </p:nvSpPr>
            <p:spPr>
              <a:xfrm>
                <a:off x="353171" y="4060142"/>
                <a:ext cx="239154" cy="437249"/>
              </a:xfrm>
              <a:prstGeom prst="can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Ellipse 43">
                <a:extLst>
                  <a:ext uri="{FF2B5EF4-FFF2-40B4-BE49-F238E27FC236}">
                    <a16:creationId xmlns:a16="http://schemas.microsoft.com/office/drawing/2014/main" id="{F4788213-24B5-397C-ABD9-D195974535F2}"/>
                  </a:ext>
                </a:extLst>
              </p:cNvPr>
              <p:cNvSpPr/>
              <p:nvPr/>
            </p:nvSpPr>
            <p:spPr>
              <a:xfrm>
                <a:off x="291484" y="3727004"/>
                <a:ext cx="363301" cy="395604"/>
              </a:xfrm>
              <a:prstGeom prst="ellipse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er 16">
              <a:extLst>
                <a:ext uri="{FF2B5EF4-FFF2-40B4-BE49-F238E27FC236}">
                  <a16:creationId xmlns:a16="http://schemas.microsoft.com/office/drawing/2014/main" id="{BF44BD4C-FECA-6246-1C84-5D6FA53A8230}"/>
                </a:ext>
              </a:extLst>
            </p:cNvPr>
            <p:cNvGrpSpPr/>
            <p:nvPr/>
          </p:nvGrpSpPr>
          <p:grpSpPr>
            <a:xfrm rot="666892">
              <a:off x="1111826" y="4814962"/>
              <a:ext cx="52770" cy="74803"/>
              <a:chOff x="291484" y="3727004"/>
              <a:chExt cx="363301" cy="770387"/>
            </a:xfrm>
            <a:gradFill flip="none" rotWithShape="1">
              <a:gsLst>
                <a:gs pos="6000">
                  <a:srgbClr val="FF0000"/>
                </a:gs>
                <a:gs pos="100000">
                  <a:srgbClr val="FFFFFF"/>
                </a:gs>
              </a:gsLst>
              <a:lin ang="10380000" scaled="0"/>
              <a:tileRect/>
            </a:gradFill>
            <a:effectLst/>
          </p:grpSpPr>
          <p:sp>
            <p:nvSpPr>
              <p:cNvPr id="50" name="Cylindre 40">
                <a:extLst>
                  <a:ext uri="{FF2B5EF4-FFF2-40B4-BE49-F238E27FC236}">
                    <a16:creationId xmlns:a16="http://schemas.microsoft.com/office/drawing/2014/main" id="{9C656118-86B7-BF87-FD52-BC70808BC8D6}"/>
                  </a:ext>
                </a:extLst>
              </p:cNvPr>
              <p:cNvSpPr/>
              <p:nvPr/>
            </p:nvSpPr>
            <p:spPr>
              <a:xfrm>
                <a:off x="353171" y="4060142"/>
                <a:ext cx="239154" cy="437249"/>
              </a:xfrm>
              <a:prstGeom prst="can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Ellipse 41">
                <a:extLst>
                  <a:ext uri="{FF2B5EF4-FFF2-40B4-BE49-F238E27FC236}">
                    <a16:creationId xmlns:a16="http://schemas.microsoft.com/office/drawing/2014/main" id="{1B90658E-C908-1732-CFEA-CE6648EFE7F4}"/>
                  </a:ext>
                </a:extLst>
              </p:cNvPr>
              <p:cNvSpPr/>
              <p:nvPr/>
            </p:nvSpPr>
            <p:spPr>
              <a:xfrm>
                <a:off x="291484" y="3727004"/>
                <a:ext cx="363301" cy="395604"/>
              </a:xfrm>
              <a:prstGeom prst="ellipse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54A17C7A-1406-A227-AE9A-2216546FDDAF}"/>
              </a:ext>
            </a:extLst>
          </p:cNvPr>
          <p:cNvSpPr txBox="1"/>
          <p:nvPr/>
        </p:nvSpPr>
        <p:spPr>
          <a:xfrm>
            <a:off x="4835272" y="3489085"/>
            <a:ext cx="17707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Plateau numérique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9CF099-77D2-9F29-B5F0-F2B31F976B45}"/>
              </a:ext>
            </a:extLst>
          </p:cNvPr>
          <p:cNvSpPr txBox="1"/>
          <p:nvPr/>
        </p:nvSpPr>
        <p:spPr>
          <a:xfrm>
            <a:off x="4194648" y="5573860"/>
            <a:ext cx="1525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/>
              <a:t>Objets tangibles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6712B61-CAB0-C074-B05D-7678033CBA55}"/>
              </a:ext>
            </a:extLst>
          </p:cNvPr>
          <p:cNvCxnSpPr>
            <a:stCxn id="54" idx="1"/>
          </p:cNvCxnSpPr>
          <p:nvPr/>
        </p:nvCxnSpPr>
        <p:spPr>
          <a:xfrm flipH="1" flipV="1">
            <a:off x="3648279" y="5212698"/>
            <a:ext cx="546369" cy="5304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FADF907-6F70-3794-2F6C-6ECAAAB974A3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720643" y="5663381"/>
            <a:ext cx="626286" cy="7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1CA79CB-F2B7-4D29-F6C3-3A95ED650889}"/>
              </a:ext>
            </a:extLst>
          </p:cNvPr>
          <p:cNvCxnSpPr>
            <a:cxnSpLocks/>
            <a:stCxn id="53" idx="2"/>
          </p:cNvCxnSpPr>
          <p:nvPr/>
        </p:nvCxnSpPr>
        <p:spPr>
          <a:xfrm>
            <a:off x="5720643" y="3827639"/>
            <a:ext cx="780740" cy="128280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FF36D979-B059-4E18-9882-4DC8E0CEF3A8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5153317" y="3827639"/>
            <a:ext cx="567326" cy="50813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33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571683-38F5-4608-9075-C7AC8D29B33A}"/>
              </a:ext>
            </a:extLst>
          </p:cNvPr>
          <p:cNvSpPr/>
          <p:nvPr/>
        </p:nvSpPr>
        <p:spPr>
          <a:xfrm>
            <a:off x="7454685" y="0"/>
            <a:ext cx="5114789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A0EA51-FA8B-4EE8-9364-720051E3961C}"/>
              </a:ext>
            </a:extLst>
          </p:cNvPr>
          <p:cNvSpPr txBox="1"/>
          <p:nvPr/>
        </p:nvSpPr>
        <p:spPr>
          <a:xfrm>
            <a:off x="8662738" y="-11353"/>
            <a:ext cx="29260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Etapes de réalisation:</a:t>
            </a: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AF3AC3B-A137-4577-83AD-FB3DCC3AC257}"/>
              </a:ext>
            </a:extLst>
          </p:cNvPr>
          <p:cNvSpPr/>
          <p:nvPr/>
        </p:nvSpPr>
        <p:spPr>
          <a:xfrm>
            <a:off x="8417294" y="2136808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9B99B96C-0D99-4EF4-93FB-94043ADAA916}"/>
              </a:ext>
            </a:extLst>
          </p:cNvPr>
          <p:cNvSpPr/>
          <p:nvPr/>
        </p:nvSpPr>
        <p:spPr>
          <a:xfrm>
            <a:off x="8454593" y="3429000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01EEC99B-AA96-4DF8-8030-79F2C14227B8}"/>
              </a:ext>
            </a:extLst>
          </p:cNvPr>
          <p:cNvSpPr/>
          <p:nvPr/>
        </p:nvSpPr>
        <p:spPr>
          <a:xfrm>
            <a:off x="8454593" y="4823459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22EA83-77F2-4B43-9760-B62AED6DF60D}"/>
              </a:ext>
            </a:extLst>
          </p:cNvPr>
          <p:cNvSpPr txBox="1"/>
          <p:nvPr/>
        </p:nvSpPr>
        <p:spPr>
          <a:xfrm>
            <a:off x="9008532" y="2136808"/>
            <a:ext cx="32714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Etudes et conceptions assistées par logiciels</a:t>
            </a:r>
          </a:p>
          <a:p>
            <a:endParaRPr lang="fr-S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35488C-B4A9-4781-9336-DBDC3FED8D95}"/>
              </a:ext>
            </a:extLst>
          </p:cNvPr>
          <p:cNvSpPr txBox="1"/>
          <p:nvPr/>
        </p:nvSpPr>
        <p:spPr>
          <a:xfrm>
            <a:off x="9008533" y="3282525"/>
            <a:ext cx="35136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Réalisation des schémas d’alimentation et de commande électrique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D188E8-EA27-43AE-B9DA-C8B296E26F79}"/>
              </a:ext>
            </a:extLst>
          </p:cNvPr>
          <p:cNvSpPr txBox="1"/>
          <p:nvPr/>
        </p:nvSpPr>
        <p:spPr>
          <a:xfrm>
            <a:off x="9087978" y="4907466"/>
            <a:ext cx="319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 et intégration interactive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43D02F6-E618-4174-B634-FFD7856A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fr-S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CBB07D18-B709-4945-BB01-CE4E2EF0FE78}"/>
              </a:ext>
            </a:extLst>
          </p:cNvPr>
          <p:cNvSpPr/>
          <p:nvPr/>
        </p:nvSpPr>
        <p:spPr>
          <a:xfrm>
            <a:off x="115392" y="3204456"/>
            <a:ext cx="1999219" cy="1118191"/>
          </a:xfrm>
          <a:custGeom>
            <a:avLst/>
            <a:gdLst/>
            <a:ahLst/>
            <a:cxnLst/>
            <a:rect l="l" t="t" r="r" b="b"/>
            <a:pathLst>
              <a:path w="3499593" h="2187246">
                <a:moveTo>
                  <a:pt x="0" y="0"/>
                </a:moveTo>
                <a:lnTo>
                  <a:pt x="3499593" y="0"/>
                </a:lnTo>
                <a:lnTo>
                  <a:pt x="3499593" y="2187246"/>
                </a:lnTo>
                <a:lnTo>
                  <a:pt x="0" y="218724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SN" dirty="0"/>
          </a:p>
        </p:txBody>
      </p:sp>
      <p:sp>
        <p:nvSpPr>
          <p:cNvPr id="19" name="Freeform 15">
            <a:extLst>
              <a:ext uri="{FF2B5EF4-FFF2-40B4-BE49-F238E27FC236}">
                <a16:creationId xmlns:a16="http://schemas.microsoft.com/office/drawing/2014/main" id="{70EAEAB3-899E-462C-90D3-238AA3862F30}"/>
              </a:ext>
            </a:extLst>
          </p:cNvPr>
          <p:cNvSpPr/>
          <p:nvPr/>
        </p:nvSpPr>
        <p:spPr>
          <a:xfrm>
            <a:off x="321478" y="5925134"/>
            <a:ext cx="1869487" cy="493441"/>
          </a:xfrm>
          <a:custGeom>
            <a:avLst/>
            <a:gdLst/>
            <a:ahLst/>
            <a:cxnLst/>
            <a:rect l="l" t="t" r="r" b="b"/>
            <a:pathLst>
              <a:path w="2442736" h="809156">
                <a:moveTo>
                  <a:pt x="0" y="0"/>
                </a:moveTo>
                <a:lnTo>
                  <a:pt x="2442736" y="0"/>
                </a:lnTo>
                <a:lnTo>
                  <a:pt x="2442736" y="809156"/>
                </a:lnTo>
                <a:lnTo>
                  <a:pt x="0" y="80915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16">
            <a:extLst>
              <a:ext uri="{FF2B5EF4-FFF2-40B4-BE49-F238E27FC236}">
                <a16:creationId xmlns:a16="http://schemas.microsoft.com/office/drawing/2014/main" id="{FCADE86F-1997-4BC8-A3F0-0B961B0F6D4F}"/>
              </a:ext>
            </a:extLst>
          </p:cNvPr>
          <p:cNvSpPr/>
          <p:nvPr/>
        </p:nvSpPr>
        <p:spPr>
          <a:xfrm>
            <a:off x="519381" y="4333135"/>
            <a:ext cx="1595230" cy="517857"/>
          </a:xfrm>
          <a:custGeom>
            <a:avLst/>
            <a:gdLst/>
            <a:ahLst/>
            <a:cxnLst/>
            <a:rect l="l" t="t" r="r" b="b"/>
            <a:pathLst>
              <a:path w="2084383" h="849193">
                <a:moveTo>
                  <a:pt x="0" y="0"/>
                </a:moveTo>
                <a:lnTo>
                  <a:pt x="2084383" y="0"/>
                </a:lnTo>
                <a:lnTo>
                  <a:pt x="2084383" y="849193"/>
                </a:lnTo>
                <a:lnTo>
                  <a:pt x="0" y="849193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17">
            <a:extLst>
              <a:ext uri="{FF2B5EF4-FFF2-40B4-BE49-F238E27FC236}">
                <a16:creationId xmlns:a16="http://schemas.microsoft.com/office/drawing/2014/main" id="{CC302852-263E-42EC-8605-531686883979}"/>
              </a:ext>
            </a:extLst>
          </p:cNvPr>
          <p:cNvSpPr/>
          <p:nvPr/>
        </p:nvSpPr>
        <p:spPr>
          <a:xfrm>
            <a:off x="2891019" y="4291559"/>
            <a:ext cx="1143130" cy="873803"/>
          </a:xfrm>
          <a:custGeom>
            <a:avLst/>
            <a:gdLst/>
            <a:ahLst/>
            <a:cxnLst/>
            <a:rect l="l" t="t" r="r" b="b"/>
            <a:pathLst>
              <a:path w="2291074" h="2291074">
                <a:moveTo>
                  <a:pt x="0" y="0"/>
                </a:moveTo>
                <a:lnTo>
                  <a:pt x="2291074" y="0"/>
                </a:lnTo>
                <a:lnTo>
                  <a:pt x="2291074" y="2291074"/>
                </a:lnTo>
                <a:lnTo>
                  <a:pt x="0" y="2291074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18">
            <a:extLst>
              <a:ext uri="{FF2B5EF4-FFF2-40B4-BE49-F238E27FC236}">
                <a16:creationId xmlns:a16="http://schemas.microsoft.com/office/drawing/2014/main" id="{1900D00E-4AA6-4183-9E26-10ACB8D381E5}"/>
              </a:ext>
            </a:extLst>
          </p:cNvPr>
          <p:cNvSpPr/>
          <p:nvPr/>
        </p:nvSpPr>
        <p:spPr>
          <a:xfrm>
            <a:off x="440159" y="4649880"/>
            <a:ext cx="1910074" cy="1521975"/>
          </a:xfrm>
          <a:custGeom>
            <a:avLst/>
            <a:gdLst/>
            <a:ahLst/>
            <a:cxnLst/>
            <a:rect l="l" t="t" r="r" b="b"/>
            <a:pathLst>
              <a:path w="2495768" h="2495768">
                <a:moveTo>
                  <a:pt x="0" y="0"/>
                </a:moveTo>
                <a:lnTo>
                  <a:pt x="2495769" y="0"/>
                </a:lnTo>
                <a:lnTo>
                  <a:pt x="2495769" y="2495769"/>
                </a:lnTo>
                <a:lnTo>
                  <a:pt x="0" y="2495769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3C06A556-4E94-4CC3-8C33-294DD5F0D2FD}"/>
              </a:ext>
            </a:extLst>
          </p:cNvPr>
          <p:cNvSpPr/>
          <p:nvPr/>
        </p:nvSpPr>
        <p:spPr>
          <a:xfrm>
            <a:off x="2714715" y="3697296"/>
            <a:ext cx="2002795" cy="307777"/>
          </a:xfrm>
          <a:custGeom>
            <a:avLst/>
            <a:gdLst/>
            <a:ahLst/>
            <a:cxnLst/>
            <a:rect l="l" t="t" r="r" b="b"/>
            <a:pathLst>
              <a:path w="3471187" h="659574">
                <a:moveTo>
                  <a:pt x="0" y="0"/>
                </a:moveTo>
                <a:lnTo>
                  <a:pt x="3471187" y="0"/>
                </a:lnTo>
                <a:lnTo>
                  <a:pt x="3471187" y="659574"/>
                </a:lnTo>
                <a:lnTo>
                  <a:pt x="0" y="659574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C75E9978-9F63-4365-A4E2-FDA6AA12E6D9}"/>
              </a:ext>
            </a:extLst>
          </p:cNvPr>
          <p:cNvSpPr/>
          <p:nvPr/>
        </p:nvSpPr>
        <p:spPr>
          <a:xfrm>
            <a:off x="2979539" y="5538724"/>
            <a:ext cx="1143129" cy="1013494"/>
          </a:xfrm>
          <a:custGeom>
            <a:avLst/>
            <a:gdLst/>
            <a:ahLst/>
            <a:cxnLst/>
            <a:rect l="l" t="t" r="r" b="b"/>
            <a:pathLst>
              <a:path w="1493652" h="1661951">
                <a:moveTo>
                  <a:pt x="0" y="0"/>
                </a:moveTo>
                <a:lnTo>
                  <a:pt x="1493651" y="0"/>
                </a:lnTo>
                <a:lnTo>
                  <a:pt x="1493651" y="1661951"/>
                </a:lnTo>
                <a:lnTo>
                  <a:pt x="0" y="1661951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00E384-AA81-44C1-8364-393358A9E18E}"/>
              </a:ext>
            </a:extLst>
          </p:cNvPr>
          <p:cNvSpPr txBox="1"/>
          <p:nvPr/>
        </p:nvSpPr>
        <p:spPr>
          <a:xfrm>
            <a:off x="757815" y="372892"/>
            <a:ext cx="5619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fr-FR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plateau numérique</a:t>
            </a:r>
            <a:endParaRPr lang="fr-SN" sz="28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1">
            <a:extLst>
              <a:ext uri="{FF2B5EF4-FFF2-40B4-BE49-F238E27FC236}">
                <a16:creationId xmlns:a16="http://schemas.microsoft.com/office/drawing/2014/main" id="{0C874708-D762-4471-BCAF-A9AC888758F5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034" y="1201909"/>
            <a:ext cx="2348338" cy="1417950"/>
          </a:xfrm>
          <a:prstGeom prst="rect">
            <a:avLst/>
          </a:prstGeom>
        </p:spPr>
      </p:pic>
      <p:sp>
        <p:nvSpPr>
          <p:cNvPr id="27" name="Freeform 14">
            <a:extLst>
              <a:ext uri="{FF2B5EF4-FFF2-40B4-BE49-F238E27FC236}">
                <a16:creationId xmlns:a16="http://schemas.microsoft.com/office/drawing/2014/main" id="{0F4721D2-D5DF-49D8-8C6E-BBCE716D08BF}"/>
              </a:ext>
            </a:extLst>
          </p:cNvPr>
          <p:cNvSpPr/>
          <p:nvPr/>
        </p:nvSpPr>
        <p:spPr>
          <a:xfrm rot="1930491">
            <a:off x="352710" y="1564059"/>
            <a:ext cx="490573" cy="309192"/>
          </a:xfrm>
          <a:custGeom>
            <a:avLst/>
            <a:gdLst/>
            <a:ahLst/>
            <a:cxnLst/>
            <a:rect l="l" t="t" r="r" b="b"/>
            <a:pathLst>
              <a:path w="9576092" h="5374582">
                <a:moveTo>
                  <a:pt x="0" y="0"/>
                </a:moveTo>
                <a:lnTo>
                  <a:pt x="9576092" y="0"/>
                </a:lnTo>
                <a:lnTo>
                  <a:pt x="9576092" y="5374582"/>
                </a:lnTo>
                <a:lnTo>
                  <a:pt x="0" y="5374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039A0A-AF5E-43D0-B3BD-E261F3A999E8}"/>
              </a:ext>
            </a:extLst>
          </p:cNvPr>
          <p:cNvCxnSpPr>
            <a:cxnSpLocks/>
          </p:cNvCxnSpPr>
          <p:nvPr/>
        </p:nvCxnSpPr>
        <p:spPr>
          <a:xfrm>
            <a:off x="2450372" y="1741745"/>
            <a:ext cx="2424762" cy="0"/>
          </a:xfrm>
          <a:prstGeom prst="straightConnector1">
            <a:avLst/>
          </a:prstGeom>
          <a:ln w="76200">
            <a:solidFill>
              <a:schemeClr val="accent1">
                <a:alpha val="82000"/>
              </a:schemeClr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1">
            <a:extLst>
              <a:ext uri="{FF2B5EF4-FFF2-40B4-BE49-F238E27FC236}">
                <a16:creationId xmlns:a16="http://schemas.microsoft.com/office/drawing/2014/main" id="{AA0C522B-E7B4-4A6A-98B3-CC582557925F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3043" y="1100371"/>
            <a:ext cx="1591292" cy="2072873"/>
          </a:xfrm>
          <a:prstGeom prst="rect">
            <a:avLst/>
          </a:prstGeom>
        </p:spPr>
      </p:pic>
      <p:pic>
        <p:nvPicPr>
          <p:cNvPr id="2050" name="Picture 2" descr="Raspberry Pi Pinout">
            <a:extLst>
              <a:ext uri="{FF2B5EF4-FFF2-40B4-BE49-F238E27FC236}">
                <a16:creationId xmlns:a16="http://schemas.microsoft.com/office/drawing/2014/main" id="{B01146DC-088E-08A0-E3F0-6030D141C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04327" y="1277417"/>
            <a:ext cx="918119" cy="559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4546232-7A77-4869-A641-84809CEBB9D6}"/>
              </a:ext>
            </a:extLst>
          </p:cNvPr>
          <p:cNvSpPr txBox="1"/>
          <p:nvPr/>
        </p:nvSpPr>
        <p:spPr>
          <a:xfrm>
            <a:off x="5026426" y="1902035"/>
            <a:ext cx="1143130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Raspberry Pi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CB861-0887-1F70-41B8-18CCE0465793}"/>
              </a:ext>
            </a:extLst>
          </p:cNvPr>
          <p:cNvSpPr txBox="1"/>
          <p:nvPr/>
        </p:nvSpPr>
        <p:spPr>
          <a:xfrm>
            <a:off x="3122972" y="1807331"/>
            <a:ext cx="1143130" cy="30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WebSocket</a:t>
            </a:r>
          </a:p>
        </p:txBody>
      </p:sp>
      <p:pic>
        <p:nvPicPr>
          <p:cNvPr id="2052" name="Picture 4" descr="【情報】帶動世界風潮的一塊板子---- Raspberry Pi 的「動手做」世界 @電腦應用綜合討論 哈啦板 - 巴哈姆特">
            <a:extLst>
              <a:ext uri="{FF2B5EF4-FFF2-40B4-BE49-F238E27FC236}">
                <a16:creationId xmlns:a16="http://schemas.microsoft.com/office/drawing/2014/main" id="{1A4DC866-5493-D25F-5B78-7500550C3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16132" y="990262"/>
            <a:ext cx="294507" cy="35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6">
            <a:extLst>
              <a:ext uri="{FF2B5EF4-FFF2-40B4-BE49-F238E27FC236}">
                <a16:creationId xmlns:a16="http://schemas.microsoft.com/office/drawing/2014/main" id="{F9C0697B-8F2E-BCD1-A5BB-D5FB7D87E52B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132" y="3129579"/>
            <a:ext cx="2483464" cy="372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56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/>
      <p:bldP spid="14" grpId="0"/>
      <p:bldP spid="15" grpId="0"/>
      <p:bldP spid="18" grpId="0" animBg="1"/>
      <p:bldP spid="25" grpId="0"/>
      <p:bldP spid="29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52F7E1-E99C-4D01-8852-DD220CB6DB94}"/>
              </a:ext>
            </a:extLst>
          </p:cNvPr>
          <p:cNvSpPr/>
          <p:nvPr/>
        </p:nvSpPr>
        <p:spPr>
          <a:xfrm>
            <a:off x="0" y="0"/>
            <a:ext cx="5929162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7720D-3805-4630-8079-8A518100D787}"/>
              </a:ext>
            </a:extLst>
          </p:cNvPr>
          <p:cNvSpPr txBox="1"/>
          <p:nvPr/>
        </p:nvSpPr>
        <p:spPr>
          <a:xfrm>
            <a:off x="162113" y="-45079"/>
            <a:ext cx="5604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solutions techniques: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52D2B06-564D-4855-A418-83BDF7FF84DC}"/>
              </a:ext>
            </a:extLst>
          </p:cNvPr>
          <p:cNvSpPr/>
          <p:nvPr/>
        </p:nvSpPr>
        <p:spPr>
          <a:xfrm>
            <a:off x="354175" y="856236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F32F1-BDC4-46E2-9BFC-00F0FF33EA7D}"/>
              </a:ext>
            </a:extLst>
          </p:cNvPr>
          <p:cNvSpPr txBox="1"/>
          <p:nvPr/>
        </p:nvSpPr>
        <p:spPr>
          <a:xfrm>
            <a:off x="996079" y="924263"/>
            <a:ext cx="393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Plateau avec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capacitive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cost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(50 000 FCFA) :</a:t>
            </a:r>
            <a:endParaRPr lang="fr-S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E2F33733-9BD0-4493-B718-0B0C2EEE6358}"/>
              </a:ext>
            </a:extLst>
          </p:cNvPr>
          <p:cNvSpPr/>
          <p:nvPr/>
        </p:nvSpPr>
        <p:spPr>
          <a:xfrm>
            <a:off x="6321703" y="856236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0D614-69EA-49E2-B604-95F645705B5A}"/>
              </a:ext>
            </a:extLst>
          </p:cNvPr>
          <p:cNvSpPr txBox="1"/>
          <p:nvPr/>
        </p:nvSpPr>
        <p:spPr>
          <a:xfrm>
            <a:off x="6945251" y="900869"/>
            <a:ext cx="5131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plateau avec detection 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 RFID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(100 000 FCFA):</a:t>
            </a:r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67A600D-3A34-4590-902A-3FDA29A4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fr-S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7E603C00-02FA-4CD9-981F-1FF49DF1FC57}"/>
              </a:ext>
            </a:extLst>
          </p:cNvPr>
          <p:cNvSpPr/>
          <p:nvPr/>
        </p:nvSpPr>
        <p:spPr>
          <a:xfrm>
            <a:off x="479011" y="1576064"/>
            <a:ext cx="5161393" cy="3977713"/>
          </a:xfrm>
          <a:custGeom>
            <a:avLst/>
            <a:gdLst/>
            <a:ahLst/>
            <a:cxnLst/>
            <a:rect l="l" t="t" r="r" b="b"/>
            <a:pathLst>
              <a:path w="14460840" h="10140664">
                <a:moveTo>
                  <a:pt x="0" y="0"/>
                </a:moveTo>
                <a:lnTo>
                  <a:pt x="14460840" y="0"/>
                </a:lnTo>
                <a:lnTo>
                  <a:pt x="14460840" y="10140664"/>
                </a:lnTo>
                <a:lnTo>
                  <a:pt x="0" y="1014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 dirty="0"/>
          </a:p>
        </p:txBody>
      </p:sp>
      <p:sp>
        <p:nvSpPr>
          <p:cNvPr id="29" name="Freeform 2">
            <a:extLst>
              <a:ext uri="{FF2B5EF4-FFF2-40B4-BE49-F238E27FC236}">
                <a16:creationId xmlns:a16="http://schemas.microsoft.com/office/drawing/2014/main" id="{921ED9D1-6540-4359-A1A4-F0D9182CFA31}"/>
              </a:ext>
            </a:extLst>
          </p:cNvPr>
          <p:cNvSpPr/>
          <p:nvPr/>
        </p:nvSpPr>
        <p:spPr>
          <a:xfrm>
            <a:off x="6321703" y="1576063"/>
            <a:ext cx="5391286" cy="3977714"/>
          </a:xfrm>
          <a:custGeom>
            <a:avLst/>
            <a:gdLst/>
            <a:ahLst/>
            <a:cxnLst/>
            <a:rect l="l" t="t" r="r" b="b"/>
            <a:pathLst>
              <a:path w="14460840" h="10140664">
                <a:moveTo>
                  <a:pt x="0" y="0"/>
                </a:moveTo>
                <a:lnTo>
                  <a:pt x="14460840" y="0"/>
                </a:lnTo>
                <a:lnTo>
                  <a:pt x="14460840" y="10140664"/>
                </a:lnTo>
                <a:lnTo>
                  <a:pt x="0" y="1014066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pic>
        <p:nvPicPr>
          <p:cNvPr id="31" name="Image 6">
            <a:extLst>
              <a:ext uri="{FF2B5EF4-FFF2-40B4-BE49-F238E27FC236}">
                <a16:creationId xmlns:a16="http://schemas.microsoft.com/office/drawing/2014/main" id="{00C204C8-4F72-4D8F-BD9E-1801AF9918F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648442" y="1873731"/>
            <a:ext cx="132453" cy="199041"/>
          </a:xfrm>
          <a:prstGeom prst="rect">
            <a:avLst/>
          </a:prstGeom>
        </p:spPr>
      </p:pic>
      <p:pic>
        <p:nvPicPr>
          <p:cNvPr id="32" name="Image 8">
            <a:extLst>
              <a:ext uri="{FF2B5EF4-FFF2-40B4-BE49-F238E27FC236}">
                <a16:creationId xmlns:a16="http://schemas.microsoft.com/office/drawing/2014/main" id="{FA3D823F-33A4-4F48-831D-59E6A60F0FE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185380" y="1873732"/>
            <a:ext cx="132453" cy="199041"/>
          </a:xfrm>
          <a:prstGeom prst="rect">
            <a:avLst/>
          </a:prstGeom>
        </p:spPr>
      </p:pic>
      <p:pic>
        <p:nvPicPr>
          <p:cNvPr id="33" name="Image 9">
            <a:extLst>
              <a:ext uri="{FF2B5EF4-FFF2-40B4-BE49-F238E27FC236}">
                <a16:creationId xmlns:a16="http://schemas.microsoft.com/office/drawing/2014/main" id="{09DCE3D0-FC2A-45DA-B1CE-49E8705CBFF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689318" y="1873732"/>
            <a:ext cx="132453" cy="199041"/>
          </a:xfrm>
          <a:prstGeom prst="rect">
            <a:avLst/>
          </a:prstGeom>
        </p:spPr>
      </p:pic>
      <p:pic>
        <p:nvPicPr>
          <p:cNvPr id="34" name="Image 10">
            <a:extLst>
              <a:ext uri="{FF2B5EF4-FFF2-40B4-BE49-F238E27FC236}">
                <a16:creationId xmlns:a16="http://schemas.microsoft.com/office/drawing/2014/main" id="{18A1409A-8CA8-42CC-8E38-6A62DCE7264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210466" y="1877939"/>
            <a:ext cx="132453" cy="199041"/>
          </a:xfrm>
          <a:prstGeom prst="rect">
            <a:avLst/>
          </a:prstGeom>
        </p:spPr>
      </p:pic>
      <p:pic>
        <p:nvPicPr>
          <p:cNvPr id="35" name="Image 11">
            <a:extLst>
              <a:ext uri="{FF2B5EF4-FFF2-40B4-BE49-F238E27FC236}">
                <a16:creationId xmlns:a16="http://schemas.microsoft.com/office/drawing/2014/main" id="{6F68B1B2-C36A-40C3-9B4C-A7C2B6A525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735460" y="1873733"/>
            <a:ext cx="132453" cy="199041"/>
          </a:xfrm>
          <a:prstGeom prst="rect">
            <a:avLst/>
          </a:prstGeom>
        </p:spPr>
      </p:pic>
      <p:pic>
        <p:nvPicPr>
          <p:cNvPr id="36" name="Image 12">
            <a:extLst>
              <a:ext uri="{FF2B5EF4-FFF2-40B4-BE49-F238E27FC236}">
                <a16:creationId xmlns:a16="http://schemas.microsoft.com/office/drawing/2014/main" id="{751FAB7C-2A57-4797-A142-8C8098A79C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748746" y="2426905"/>
            <a:ext cx="132453" cy="199041"/>
          </a:xfrm>
          <a:prstGeom prst="rect">
            <a:avLst/>
          </a:prstGeom>
        </p:spPr>
      </p:pic>
      <p:pic>
        <p:nvPicPr>
          <p:cNvPr id="37" name="Image 13">
            <a:extLst>
              <a:ext uri="{FF2B5EF4-FFF2-40B4-BE49-F238E27FC236}">
                <a16:creationId xmlns:a16="http://schemas.microsoft.com/office/drawing/2014/main" id="{19113E27-C766-423C-8CBF-8FADC4F2CB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698430" y="2426906"/>
            <a:ext cx="132453" cy="199041"/>
          </a:xfrm>
          <a:prstGeom prst="rect">
            <a:avLst/>
          </a:prstGeom>
        </p:spPr>
      </p:pic>
      <p:pic>
        <p:nvPicPr>
          <p:cNvPr id="38" name="Image 14">
            <a:extLst>
              <a:ext uri="{FF2B5EF4-FFF2-40B4-BE49-F238E27FC236}">
                <a16:creationId xmlns:a16="http://schemas.microsoft.com/office/drawing/2014/main" id="{C5DD7B7B-F7E6-4843-815D-004FBE7140E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223424" y="2426905"/>
            <a:ext cx="132453" cy="199041"/>
          </a:xfrm>
          <a:prstGeom prst="rect">
            <a:avLst/>
          </a:prstGeom>
        </p:spPr>
      </p:pic>
      <p:pic>
        <p:nvPicPr>
          <p:cNvPr id="39" name="Image 15">
            <a:extLst>
              <a:ext uri="{FF2B5EF4-FFF2-40B4-BE49-F238E27FC236}">
                <a16:creationId xmlns:a16="http://schemas.microsoft.com/office/drawing/2014/main" id="{D186BA24-5C5C-4034-BDAE-98057A596F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173436" y="2426906"/>
            <a:ext cx="132453" cy="199041"/>
          </a:xfrm>
          <a:prstGeom prst="rect">
            <a:avLst/>
          </a:prstGeom>
        </p:spPr>
      </p:pic>
      <p:pic>
        <p:nvPicPr>
          <p:cNvPr id="40" name="Image 16">
            <a:extLst>
              <a:ext uri="{FF2B5EF4-FFF2-40B4-BE49-F238E27FC236}">
                <a16:creationId xmlns:a16="http://schemas.microsoft.com/office/drawing/2014/main" id="{ABA36276-3BE2-451D-BF38-2224AFFDE1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648442" y="2426906"/>
            <a:ext cx="132453" cy="199041"/>
          </a:xfrm>
          <a:prstGeom prst="rect">
            <a:avLst/>
          </a:prstGeom>
        </p:spPr>
      </p:pic>
      <p:pic>
        <p:nvPicPr>
          <p:cNvPr id="41" name="Image 17">
            <a:extLst>
              <a:ext uri="{FF2B5EF4-FFF2-40B4-BE49-F238E27FC236}">
                <a16:creationId xmlns:a16="http://schemas.microsoft.com/office/drawing/2014/main" id="{D7D9889C-631E-453A-B0E0-05A1F58F78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648442" y="2977999"/>
            <a:ext cx="132453" cy="199041"/>
          </a:xfrm>
          <a:prstGeom prst="rect">
            <a:avLst/>
          </a:prstGeom>
        </p:spPr>
      </p:pic>
      <p:pic>
        <p:nvPicPr>
          <p:cNvPr id="42" name="Image 18">
            <a:extLst>
              <a:ext uri="{FF2B5EF4-FFF2-40B4-BE49-F238E27FC236}">
                <a16:creationId xmlns:a16="http://schemas.microsoft.com/office/drawing/2014/main" id="{CAB6B027-5D53-41C2-8592-9868DBF0589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173436" y="2977998"/>
            <a:ext cx="132453" cy="199041"/>
          </a:xfrm>
          <a:prstGeom prst="rect">
            <a:avLst/>
          </a:prstGeom>
        </p:spPr>
      </p:pic>
      <p:pic>
        <p:nvPicPr>
          <p:cNvPr id="43" name="Image 19">
            <a:extLst>
              <a:ext uri="{FF2B5EF4-FFF2-40B4-BE49-F238E27FC236}">
                <a16:creationId xmlns:a16="http://schemas.microsoft.com/office/drawing/2014/main" id="{574F1C97-11F8-4D18-B19A-D1347A71AC1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690096" y="2977998"/>
            <a:ext cx="132453" cy="199041"/>
          </a:xfrm>
          <a:prstGeom prst="rect">
            <a:avLst/>
          </a:prstGeom>
        </p:spPr>
      </p:pic>
      <p:pic>
        <p:nvPicPr>
          <p:cNvPr id="44" name="Image 20">
            <a:extLst>
              <a:ext uri="{FF2B5EF4-FFF2-40B4-BE49-F238E27FC236}">
                <a16:creationId xmlns:a16="http://schemas.microsoft.com/office/drawing/2014/main" id="{14E4FF48-626A-4D2A-BA14-E8ECAE0539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224287" y="2977998"/>
            <a:ext cx="132453" cy="199041"/>
          </a:xfrm>
          <a:prstGeom prst="rect">
            <a:avLst/>
          </a:prstGeom>
        </p:spPr>
      </p:pic>
      <p:pic>
        <p:nvPicPr>
          <p:cNvPr id="45" name="Image 21">
            <a:extLst>
              <a:ext uri="{FF2B5EF4-FFF2-40B4-BE49-F238E27FC236}">
                <a16:creationId xmlns:a16="http://schemas.microsoft.com/office/drawing/2014/main" id="{8816A6B3-6F75-4706-9657-E9113FB491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743666" y="2977998"/>
            <a:ext cx="132453" cy="199041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1B6DBD3-64FC-465A-BE4D-DAF46D0CBB17}"/>
              </a:ext>
            </a:extLst>
          </p:cNvPr>
          <p:cNvSpPr/>
          <p:nvPr/>
        </p:nvSpPr>
        <p:spPr>
          <a:xfrm flipV="1">
            <a:off x="6487551" y="3929235"/>
            <a:ext cx="2523099" cy="302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Image 17">
            <a:extLst>
              <a:ext uri="{FF2B5EF4-FFF2-40B4-BE49-F238E27FC236}">
                <a16:creationId xmlns:a16="http://schemas.microsoft.com/office/drawing/2014/main" id="{CBCA6BEB-9D1B-4EFF-8C7E-6A1AA57861A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6648442" y="3515754"/>
            <a:ext cx="132453" cy="199041"/>
          </a:xfrm>
          <a:prstGeom prst="rect">
            <a:avLst/>
          </a:prstGeom>
        </p:spPr>
      </p:pic>
      <p:pic>
        <p:nvPicPr>
          <p:cNvPr id="54" name="Image 18">
            <a:extLst>
              <a:ext uri="{FF2B5EF4-FFF2-40B4-BE49-F238E27FC236}">
                <a16:creationId xmlns:a16="http://schemas.microsoft.com/office/drawing/2014/main" id="{95C86979-E201-4EAC-A901-1D46965AA7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173436" y="3515754"/>
            <a:ext cx="132453" cy="199041"/>
          </a:xfrm>
          <a:prstGeom prst="rect">
            <a:avLst/>
          </a:prstGeom>
        </p:spPr>
      </p:pic>
      <p:pic>
        <p:nvPicPr>
          <p:cNvPr id="55" name="Image 19">
            <a:extLst>
              <a:ext uri="{FF2B5EF4-FFF2-40B4-BE49-F238E27FC236}">
                <a16:creationId xmlns:a16="http://schemas.microsoft.com/office/drawing/2014/main" id="{231CDEC1-08D4-4F36-B31C-F45C5CBA20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7698429" y="3515754"/>
            <a:ext cx="132453" cy="199041"/>
          </a:xfrm>
          <a:prstGeom prst="rect">
            <a:avLst/>
          </a:prstGeom>
        </p:spPr>
      </p:pic>
      <p:pic>
        <p:nvPicPr>
          <p:cNvPr id="56" name="Image 19">
            <a:extLst>
              <a:ext uri="{FF2B5EF4-FFF2-40B4-BE49-F238E27FC236}">
                <a16:creationId xmlns:a16="http://schemas.microsoft.com/office/drawing/2014/main" id="{4C707666-6C91-459B-B57F-2E2F5CB029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223424" y="3508988"/>
            <a:ext cx="132453" cy="199041"/>
          </a:xfrm>
          <a:prstGeom prst="rect">
            <a:avLst/>
          </a:prstGeom>
        </p:spPr>
      </p:pic>
      <p:pic>
        <p:nvPicPr>
          <p:cNvPr id="57" name="Image 19">
            <a:extLst>
              <a:ext uri="{FF2B5EF4-FFF2-40B4-BE49-F238E27FC236}">
                <a16:creationId xmlns:a16="http://schemas.microsoft.com/office/drawing/2014/main" id="{DB9A8E5F-9C30-47B4-BC10-DEE93FC354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8743666" y="3508987"/>
            <a:ext cx="132453" cy="199041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40716299-13FC-44C9-83F1-60CA21756919}"/>
              </a:ext>
            </a:extLst>
          </p:cNvPr>
          <p:cNvSpPr/>
          <p:nvPr/>
        </p:nvSpPr>
        <p:spPr>
          <a:xfrm rot="10800000" flipV="1">
            <a:off x="9092852" y="3708028"/>
            <a:ext cx="635000" cy="1573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MUX</a:t>
            </a:r>
          </a:p>
        </p:txBody>
      </p:sp>
      <p:sp>
        <p:nvSpPr>
          <p:cNvPr id="60" name="Freeform 2">
            <a:extLst>
              <a:ext uri="{FF2B5EF4-FFF2-40B4-BE49-F238E27FC236}">
                <a16:creationId xmlns:a16="http://schemas.microsoft.com/office/drawing/2014/main" id="{AA8B3064-B17A-4244-9AE3-72F8992719A7}"/>
              </a:ext>
            </a:extLst>
          </p:cNvPr>
          <p:cNvSpPr/>
          <p:nvPr/>
        </p:nvSpPr>
        <p:spPr>
          <a:xfrm>
            <a:off x="729498" y="1873731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1" name="Freeform 2">
            <a:extLst>
              <a:ext uri="{FF2B5EF4-FFF2-40B4-BE49-F238E27FC236}">
                <a16:creationId xmlns:a16="http://schemas.microsoft.com/office/drawing/2014/main" id="{7FA6FC6B-58FC-4E2D-B1C2-EA852E7CF272}"/>
              </a:ext>
            </a:extLst>
          </p:cNvPr>
          <p:cNvSpPr/>
          <p:nvPr/>
        </p:nvSpPr>
        <p:spPr>
          <a:xfrm>
            <a:off x="1249547" y="1873731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2" name="Freeform 2">
            <a:extLst>
              <a:ext uri="{FF2B5EF4-FFF2-40B4-BE49-F238E27FC236}">
                <a16:creationId xmlns:a16="http://schemas.microsoft.com/office/drawing/2014/main" id="{A4E1FF10-038C-4D91-BB9E-F3BFCCD85B53}"/>
              </a:ext>
            </a:extLst>
          </p:cNvPr>
          <p:cNvSpPr/>
          <p:nvPr/>
        </p:nvSpPr>
        <p:spPr>
          <a:xfrm>
            <a:off x="1736596" y="1873730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3" name="Freeform 2">
            <a:extLst>
              <a:ext uri="{FF2B5EF4-FFF2-40B4-BE49-F238E27FC236}">
                <a16:creationId xmlns:a16="http://schemas.microsoft.com/office/drawing/2014/main" id="{17A5A0FA-D993-472E-AC96-7257BEC9BEDB}"/>
              </a:ext>
            </a:extLst>
          </p:cNvPr>
          <p:cNvSpPr/>
          <p:nvPr/>
        </p:nvSpPr>
        <p:spPr>
          <a:xfrm>
            <a:off x="2240855" y="1873729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4" name="Freeform 2">
            <a:extLst>
              <a:ext uri="{FF2B5EF4-FFF2-40B4-BE49-F238E27FC236}">
                <a16:creationId xmlns:a16="http://schemas.microsoft.com/office/drawing/2014/main" id="{824EAFBE-1243-4DD8-BB74-E0E12BC11629}"/>
              </a:ext>
            </a:extLst>
          </p:cNvPr>
          <p:cNvSpPr/>
          <p:nvPr/>
        </p:nvSpPr>
        <p:spPr>
          <a:xfrm>
            <a:off x="2739837" y="1873728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5" name="Freeform 2">
            <a:extLst>
              <a:ext uri="{FF2B5EF4-FFF2-40B4-BE49-F238E27FC236}">
                <a16:creationId xmlns:a16="http://schemas.microsoft.com/office/drawing/2014/main" id="{A9E1C44B-1B17-4002-BA83-B0C4C7769448}"/>
              </a:ext>
            </a:extLst>
          </p:cNvPr>
          <p:cNvSpPr/>
          <p:nvPr/>
        </p:nvSpPr>
        <p:spPr>
          <a:xfrm>
            <a:off x="729498" y="2426905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6" name="Freeform 2">
            <a:extLst>
              <a:ext uri="{FF2B5EF4-FFF2-40B4-BE49-F238E27FC236}">
                <a16:creationId xmlns:a16="http://schemas.microsoft.com/office/drawing/2014/main" id="{CC406947-6966-4BBE-ACD9-C3FA49A2B6F7}"/>
              </a:ext>
            </a:extLst>
          </p:cNvPr>
          <p:cNvSpPr/>
          <p:nvPr/>
        </p:nvSpPr>
        <p:spPr>
          <a:xfrm>
            <a:off x="1250793" y="2422296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7" name="Freeform 2">
            <a:extLst>
              <a:ext uri="{FF2B5EF4-FFF2-40B4-BE49-F238E27FC236}">
                <a16:creationId xmlns:a16="http://schemas.microsoft.com/office/drawing/2014/main" id="{4D3E9979-1832-400C-A646-38894D1E855E}"/>
              </a:ext>
            </a:extLst>
          </p:cNvPr>
          <p:cNvSpPr/>
          <p:nvPr/>
        </p:nvSpPr>
        <p:spPr>
          <a:xfrm>
            <a:off x="1744545" y="2422296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8" name="Freeform 2">
            <a:extLst>
              <a:ext uri="{FF2B5EF4-FFF2-40B4-BE49-F238E27FC236}">
                <a16:creationId xmlns:a16="http://schemas.microsoft.com/office/drawing/2014/main" id="{798DC751-6C39-4EF2-AD1A-68C887A00A6B}"/>
              </a:ext>
            </a:extLst>
          </p:cNvPr>
          <p:cNvSpPr/>
          <p:nvPr/>
        </p:nvSpPr>
        <p:spPr>
          <a:xfrm>
            <a:off x="2252650" y="2423575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9" name="Freeform 2">
            <a:extLst>
              <a:ext uri="{FF2B5EF4-FFF2-40B4-BE49-F238E27FC236}">
                <a16:creationId xmlns:a16="http://schemas.microsoft.com/office/drawing/2014/main" id="{67199177-BD8C-4E2F-A59C-9F9BD37BDEFF}"/>
              </a:ext>
            </a:extLst>
          </p:cNvPr>
          <p:cNvSpPr/>
          <p:nvPr/>
        </p:nvSpPr>
        <p:spPr>
          <a:xfrm>
            <a:off x="2755855" y="2422296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2">
            <a:extLst>
              <a:ext uri="{FF2B5EF4-FFF2-40B4-BE49-F238E27FC236}">
                <a16:creationId xmlns:a16="http://schemas.microsoft.com/office/drawing/2014/main" id="{F068B8FE-9D58-417F-B3FE-0F973F507146}"/>
              </a:ext>
            </a:extLst>
          </p:cNvPr>
          <p:cNvSpPr/>
          <p:nvPr/>
        </p:nvSpPr>
        <p:spPr>
          <a:xfrm>
            <a:off x="2741502" y="2966470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2">
            <a:extLst>
              <a:ext uri="{FF2B5EF4-FFF2-40B4-BE49-F238E27FC236}">
                <a16:creationId xmlns:a16="http://schemas.microsoft.com/office/drawing/2014/main" id="{3E1B0B27-3D74-4E4B-B972-8B46BB1F8361}"/>
              </a:ext>
            </a:extLst>
          </p:cNvPr>
          <p:cNvSpPr/>
          <p:nvPr/>
        </p:nvSpPr>
        <p:spPr>
          <a:xfrm>
            <a:off x="2240855" y="2972120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2">
            <a:extLst>
              <a:ext uri="{FF2B5EF4-FFF2-40B4-BE49-F238E27FC236}">
                <a16:creationId xmlns:a16="http://schemas.microsoft.com/office/drawing/2014/main" id="{AAE4EEAB-180B-4B42-94F6-4C6DD65768E4}"/>
              </a:ext>
            </a:extLst>
          </p:cNvPr>
          <p:cNvSpPr/>
          <p:nvPr/>
        </p:nvSpPr>
        <p:spPr>
          <a:xfrm>
            <a:off x="1741083" y="2977205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3" name="Freeform 2">
            <a:extLst>
              <a:ext uri="{FF2B5EF4-FFF2-40B4-BE49-F238E27FC236}">
                <a16:creationId xmlns:a16="http://schemas.microsoft.com/office/drawing/2014/main" id="{106D293C-8129-46EC-BF40-F4E520E175E5}"/>
              </a:ext>
            </a:extLst>
          </p:cNvPr>
          <p:cNvSpPr/>
          <p:nvPr/>
        </p:nvSpPr>
        <p:spPr>
          <a:xfrm>
            <a:off x="1249547" y="2977205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4" name="Freeform 2">
            <a:extLst>
              <a:ext uri="{FF2B5EF4-FFF2-40B4-BE49-F238E27FC236}">
                <a16:creationId xmlns:a16="http://schemas.microsoft.com/office/drawing/2014/main" id="{747C20E3-BBAE-4D63-A4CF-307CDE034E6D}"/>
              </a:ext>
            </a:extLst>
          </p:cNvPr>
          <p:cNvSpPr/>
          <p:nvPr/>
        </p:nvSpPr>
        <p:spPr>
          <a:xfrm>
            <a:off x="733378" y="2960453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5" name="Freeform 2">
            <a:extLst>
              <a:ext uri="{FF2B5EF4-FFF2-40B4-BE49-F238E27FC236}">
                <a16:creationId xmlns:a16="http://schemas.microsoft.com/office/drawing/2014/main" id="{D73641DC-F0DB-4D34-9FEB-0DB73C92A696}"/>
              </a:ext>
            </a:extLst>
          </p:cNvPr>
          <p:cNvSpPr/>
          <p:nvPr/>
        </p:nvSpPr>
        <p:spPr>
          <a:xfrm>
            <a:off x="729498" y="3498597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2">
            <a:extLst>
              <a:ext uri="{FF2B5EF4-FFF2-40B4-BE49-F238E27FC236}">
                <a16:creationId xmlns:a16="http://schemas.microsoft.com/office/drawing/2014/main" id="{917A40B9-029A-4C0A-9B25-521DBD6FCA50}"/>
              </a:ext>
            </a:extLst>
          </p:cNvPr>
          <p:cNvSpPr/>
          <p:nvPr/>
        </p:nvSpPr>
        <p:spPr>
          <a:xfrm>
            <a:off x="1249547" y="3498597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2">
            <a:extLst>
              <a:ext uri="{FF2B5EF4-FFF2-40B4-BE49-F238E27FC236}">
                <a16:creationId xmlns:a16="http://schemas.microsoft.com/office/drawing/2014/main" id="{53A965A6-9871-4DEB-8C8A-44BC5582D5A9}"/>
              </a:ext>
            </a:extLst>
          </p:cNvPr>
          <p:cNvSpPr/>
          <p:nvPr/>
        </p:nvSpPr>
        <p:spPr>
          <a:xfrm>
            <a:off x="1744545" y="3516627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2">
            <a:extLst>
              <a:ext uri="{FF2B5EF4-FFF2-40B4-BE49-F238E27FC236}">
                <a16:creationId xmlns:a16="http://schemas.microsoft.com/office/drawing/2014/main" id="{ECC254DB-9F76-4543-8A74-F1A01F2E788E}"/>
              </a:ext>
            </a:extLst>
          </p:cNvPr>
          <p:cNvSpPr/>
          <p:nvPr/>
        </p:nvSpPr>
        <p:spPr>
          <a:xfrm>
            <a:off x="2237431" y="3508987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79" name="Freeform 2">
            <a:extLst>
              <a:ext uri="{FF2B5EF4-FFF2-40B4-BE49-F238E27FC236}">
                <a16:creationId xmlns:a16="http://schemas.microsoft.com/office/drawing/2014/main" id="{08B19A68-8294-4B09-87C9-BC3676C1DE04}"/>
              </a:ext>
            </a:extLst>
          </p:cNvPr>
          <p:cNvSpPr/>
          <p:nvPr/>
        </p:nvSpPr>
        <p:spPr>
          <a:xfrm>
            <a:off x="2739837" y="3508987"/>
            <a:ext cx="231129" cy="25724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0" name="Freeform 2">
            <a:extLst>
              <a:ext uri="{FF2B5EF4-FFF2-40B4-BE49-F238E27FC236}">
                <a16:creationId xmlns:a16="http://schemas.microsoft.com/office/drawing/2014/main" id="{6EAC8C86-5FFD-444D-A7BF-B38145DEF856}"/>
              </a:ext>
            </a:extLst>
          </p:cNvPr>
          <p:cNvSpPr/>
          <p:nvPr/>
        </p:nvSpPr>
        <p:spPr>
          <a:xfrm>
            <a:off x="701488" y="4003729"/>
            <a:ext cx="114488" cy="12961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1" name="Freeform 2">
            <a:extLst>
              <a:ext uri="{FF2B5EF4-FFF2-40B4-BE49-F238E27FC236}">
                <a16:creationId xmlns:a16="http://schemas.microsoft.com/office/drawing/2014/main" id="{043DDB5B-3A00-4143-9787-3C308D10139D}"/>
              </a:ext>
            </a:extLst>
          </p:cNvPr>
          <p:cNvSpPr/>
          <p:nvPr/>
        </p:nvSpPr>
        <p:spPr>
          <a:xfrm>
            <a:off x="996079" y="4003728"/>
            <a:ext cx="114488" cy="12961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2">
            <a:extLst>
              <a:ext uri="{FF2B5EF4-FFF2-40B4-BE49-F238E27FC236}">
                <a16:creationId xmlns:a16="http://schemas.microsoft.com/office/drawing/2014/main" id="{35E823FF-99E5-4D91-900E-F726205BF9D8}"/>
              </a:ext>
            </a:extLst>
          </p:cNvPr>
          <p:cNvSpPr/>
          <p:nvPr/>
        </p:nvSpPr>
        <p:spPr>
          <a:xfrm>
            <a:off x="1290670" y="4003728"/>
            <a:ext cx="114488" cy="129615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83" name="TextBox 3">
            <a:extLst>
              <a:ext uri="{FF2B5EF4-FFF2-40B4-BE49-F238E27FC236}">
                <a16:creationId xmlns:a16="http://schemas.microsoft.com/office/drawing/2014/main" id="{F98A62BB-1F0E-45AB-B5F7-8F3386B8709B}"/>
              </a:ext>
            </a:extLst>
          </p:cNvPr>
          <p:cNvSpPr txBox="1"/>
          <p:nvPr/>
        </p:nvSpPr>
        <p:spPr>
          <a:xfrm>
            <a:off x="3669101" y="1996919"/>
            <a:ext cx="1722533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Système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d’alimentation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et de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commande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du plateau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interactif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avec des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capteurs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capacitifs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:</a:t>
            </a:r>
          </a:p>
        </p:txBody>
      </p:sp>
      <p:sp>
        <p:nvSpPr>
          <p:cNvPr id="84" name="TextBox 3">
            <a:extLst>
              <a:ext uri="{FF2B5EF4-FFF2-40B4-BE49-F238E27FC236}">
                <a16:creationId xmlns:a16="http://schemas.microsoft.com/office/drawing/2014/main" id="{84E98233-F618-46E7-BE8B-C7D5B460C381}"/>
              </a:ext>
            </a:extLst>
          </p:cNvPr>
          <p:cNvSpPr txBox="1"/>
          <p:nvPr/>
        </p:nvSpPr>
        <p:spPr>
          <a:xfrm>
            <a:off x="9620287" y="2007836"/>
            <a:ext cx="191131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Système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d’alimentation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et de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commande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du plateau </a:t>
            </a:r>
            <a:r>
              <a:rPr lang="en-US" sz="1200" u="sng" dirty="0" err="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interactif</a:t>
            </a:r>
            <a:r>
              <a:rPr lang="en-US" sz="1200" u="sng" dirty="0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avec des RFIDs:</a:t>
            </a:r>
          </a:p>
        </p:txBody>
      </p:sp>
      <p:sp>
        <p:nvSpPr>
          <p:cNvPr id="85" name="Freeform 3">
            <a:extLst>
              <a:ext uri="{FF2B5EF4-FFF2-40B4-BE49-F238E27FC236}">
                <a16:creationId xmlns:a16="http://schemas.microsoft.com/office/drawing/2014/main" id="{DD5832BE-F8A0-4729-ABA6-1FCCBCCC3CC3}"/>
              </a:ext>
            </a:extLst>
          </p:cNvPr>
          <p:cNvSpPr/>
          <p:nvPr/>
        </p:nvSpPr>
        <p:spPr>
          <a:xfrm rot="16200000">
            <a:off x="730437" y="5417503"/>
            <a:ext cx="1143155" cy="1505859"/>
          </a:xfrm>
          <a:custGeom>
            <a:avLst/>
            <a:gdLst/>
            <a:ahLst/>
            <a:cxnLst/>
            <a:rect l="l" t="t" r="r" b="b"/>
            <a:pathLst>
              <a:path w="12436046" h="10287000">
                <a:moveTo>
                  <a:pt x="0" y="0"/>
                </a:moveTo>
                <a:lnTo>
                  <a:pt x="12436046" y="0"/>
                </a:lnTo>
                <a:lnTo>
                  <a:pt x="124360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pic>
        <p:nvPicPr>
          <p:cNvPr id="86" name="Image 2">
            <a:extLst>
              <a:ext uri="{FF2B5EF4-FFF2-40B4-BE49-F238E27FC236}">
                <a16:creationId xmlns:a16="http://schemas.microsoft.com/office/drawing/2014/main" id="{DA4DE4C7-90C5-4FA4-896F-B63AD175BD7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8858" y="5673745"/>
            <a:ext cx="1826683" cy="1026226"/>
          </a:xfrm>
          <a:prstGeom prst="rect">
            <a:avLst/>
          </a:prstGeom>
        </p:spPr>
      </p:pic>
      <p:pic>
        <p:nvPicPr>
          <p:cNvPr id="2" name="Picture 2" descr="RFID Multi Coil Reader RFID RF Reader Module 12 Channel 15693 Card ...">
            <a:extLst>
              <a:ext uri="{FF2B5EF4-FFF2-40B4-BE49-F238E27FC236}">
                <a16:creationId xmlns:a16="http://schemas.microsoft.com/office/drawing/2014/main" id="{016F52BD-CDDA-9E23-5655-1FABF2FDE2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240" y="5618130"/>
            <a:ext cx="1640766" cy="119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411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/>
      <p:bldP spid="83" grpId="0"/>
      <p:bldP spid="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9C49A6E-56E3-4662-A8D9-C338491F068B}"/>
              </a:ext>
            </a:extLst>
          </p:cNvPr>
          <p:cNvSpPr/>
          <p:nvPr/>
        </p:nvSpPr>
        <p:spPr>
          <a:xfrm>
            <a:off x="8357432" y="0"/>
            <a:ext cx="3834568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983C9-2636-4B16-BB14-891B80C6F286}"/>
              </a:ext>
            </a:extLst>
          </p:cNvPr>
          <p:cNvSpPr txBox="1"/>
          <p:nvPr/>
        </p:nvSpPr>
        <p:spPr>
          <a:xfrm>
            <a:off x="457200" y="381000"/>
            <a:ext cx="790023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Planification pour les prochains deux mois</a:t>
            </a:r>
            <a:endParaRPr lang="fr-SN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071B8A2-535B-4A81-8EEB-939E2E6C5608}"/>
              </a:ext>
            </a:extLst>
          </p:cNvPr>
          <p:cNvSpPr/>
          <p:nvPr/>
        </p:nvSpPr>
        <p:spPr>
          <a:xfrm>
            <a:off x="577160" y="1955857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C848E6D3-C96C-478A-9B26-42851281E9E0}"/>
              </a:ext>
            </a:extLst>
          </p:cNvPr>
          <p:cNvSpPr/>
          <p:nvPr/>
        </p:nvSpPr>
        <p:spPr>
          <a:xfrm>
            <a:off x="577160" y="4049316"/>
            <a:ext cx="490888" cy="50538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bg1"/>
          </a:solidFill>
          <a:ln w="38100" cap="sq">
            <a:solidFill>
              <a:srgbClr val="231F20"/>
            </a:solidFill>
            <a:prstDash val="solid"/>
            <a:miter/>
          </a:ln>
        </p:spPr>
        <p:txBody>
          <a:bodyPr numCol="1" anchor="ctr"/>
          <a:lstStyle/>
          <a:p>
            <a:pPr algn="ctr"/>
            <a:r>
              <a:rPr lang="en-US" sz="2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fr-S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2846B-20FA-4A39-A676-C70B1E39844E}"/>
              </a:ext>
            </a:extLst>
          </p:cNvPr>
          <p:cNvSpPr txBox="1"/>
          <p:nvPr/>
        </p:nvSpPr>
        <p:spPr>
          <a:xfrm>
            <a:off x="1193799" y="1955857"/>
            <a:ext cx="1837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Mi-Novembre</a:t>
            </a:r>
            <a:r>
              <a:rPr lang="en-US" dirty="0"/>
              <a:t> </a:t>
            </a:r>
            <a:endParaRPr lang="fr-S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6A5D3-53FD-4797-B4BC-4B2473F61D62}"/>
              </a:ext>
            </a:extLst>
          </p:cNvPr>
          <p:cNvSpPr txBox="1"/>
          <p:nvPr/>
        </p:nvSpPr>
        <p:spPr>
          <a:xfrm>
            <a:off x="1193800" y="4117343"/>
            <a:ext cx="124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Décembre</a:t>
            </a:r>
            <a:r>
              <a:rPr lang="fr-FR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400A7-6E9C-454D-811D-7489FEF757DD}"/>
              </a:ext>
            </a:extLst>
          </p:cNvPr>
          <p:cNvSpPr txBox="1"/>
          <p:nvPr/>
        </p:nvSpPr>
        <p:spPr>
          <a:xfrm>
            <a:off x="723900" y="2616200"/>
            <a:ext cx="5670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Finalisation du plateau avec capteurs capacitifs sans supervision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EF833-4550-41A0-833B-466B87E93234}"/>
              </a:ext>
            </a:extLst>
          </p:cNvPr>
          <p:cNvSpPr txBox="1"/>
          <p:nvPr/>
        </p:nvSpPr>
        <p:spPr>
          <a:xfrm>
            <a:off x="723900" y="4804620"/>
            <a:ext cx="6724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au point du prototype du plateau (tuiles hexagonales modulables avec des connecteurs magnétiques) avec lecteurs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RFIDs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sous chaque tuile. </a:t>
            </a:r>
          </a:p>
          <a:p>
            <a:pPr marL="285750" indent="-285750">
              <a:buFontTx/>
              <a:buChar char="-"/>
            </a:pP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Envoi des IDs des pions et des cellules via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 Cormas. </a:t>
            </a:r>
          </a:p>
          <a:p>
            <a:pPr marL="285750" indent="-285750">
              <a:buFontTx/>
              <a:buChar char="-"/>
            </a:pP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Contrôle de </a:t>
            </a:r>
            <a:r>
              <a:rPr lang="fr-S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leds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RGB dans les tuiles depuis Cormas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DEDE5BE-69B9-4505-BE6E-F2E2FBC7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6324" y="6448993"/>
            <a:ext cx="2743200" cy="365125"/>
          </a:xfrm>
        </p:spPr>
        <p:txBody>
          <a:bodyPr/>
          <a:lstStyle/>
          <a:p>
            <a:fld id="{65A5F6FF-3D43-4157-998F-058504204C3C}" type="slidenum">
              <a:rPr lang="fr-SN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fr-S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19">
            <a:extLst>
              <a:ext uri="{FF2B5EF4-FFF2-40B4-BE49-F238E27FC236}">
                <a16:creationId xmlns:a16="http://schemas.microsoft.com/office/drawing/2014/main" id="{12453255-0FB3-4836-B94C-887797E6968D}"/>
              </a:ext>
            </a:extLst>
          </p:cNvPr>
          <p:cNvSpPr/>
          <p:nvPr/>
        </p:nvSpPr>
        <p:spPr>
          <a:xfrm>
            <a:off x="8502384" y="1328839"/>
            <a:ext cx="3544664" cy="1958273"/>
          </a:xfrm>
          <a:custGeom>
            <a:avLst/>
            <a:gdLst/>
            <a:ahLst/>
            <a:cxnLst/>
            <a:rect l="l" t="t" r="r" b="b"/>
            <a:pathLst>
              <a:path w="2380472" h="1345331">
                <a:moveTo>
                  <a:pt x="0" y="0"/>
                </a:moveTo>
                <a:lnTo>
                  <a:pt x="2380472" y="0"/>
                </a:lnTo>
                <a:lnTo>
                  <a:pt x="2380472" y="1345332"/>
                </a:lnTo>
                <a:lnTo>
                  <a:pt x="0" y="134533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C233C3-0905-B355-0CCF-DC5F9154580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2384" y="3685126"/>
            <a:ext cx="3544664" cy="2346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7FEAE3-C3F5-3A57-ACBE-B6591C90D539}"/>
              </a:ext>
            </a:extLst>
          </p:cNvPr>
          <p:cNvSpPr txBox="1"/>
          <p:nvPr/>
        </p:nvSpPr>
        <p:spPr>
          <a:xfrm>
            <a:off x="9376324" y="6044461"/>
            <a:ext cx="205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Lecteur et tags RFID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72125-3866-A862-055F-D1615629FF3B}"/>
              </a:ext>
            </a:extLst>
          </p:cNvPr>
          <p:cNvSpPr txBox="1"/>
          <p:nvPr/>
        </p:nvSpPr>
        <p:spPr>
          <a:xfrm>
            <a:off x="8989708" y="1001801"/>
            <a:ext cx="282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Chassis</a:t>
            </a:r>
            <a:r>
              <a:rPr lang="fr-FR" dirty="0">
                <a:solidFill>
                  <a:schemeClr val="bg1"/>
                </a:solidFill>
              </a:rPr>
              <a:t> bois + </a:t>
            </a:r>
            <a:r>
              <a:rPr lang="fr-FR" dirty="0" err="1">
                <a:solidFill>
                  <a:schemeClr val="bg1"/>
                </a:solidFill>
              </a:rPr>
              <a:t>resine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epoxy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61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A05AB5-39A0-40E8-BE74-14E5FE7E67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S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0D26F9F-5B1B-4F9D-BCFA-9ED35200236E}"/>
              </a:ext>
            </a:extLst>
          </p:cNvPr>
          <p:cNvSpPr txBox="1"/>
          <p:nvPr/>
        </p:nvSpPr>
        <p:spPr>
          <a:xfrm>
            <a:off x="2288327" y="1402015"/>
            <a:ext cx="7693873" cy="1184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4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endParaRPr lang="en-US" sz="44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Ruda Black"/>
              <a:cs typeface="Times New Roman" panose="02020603050405020304" pitchFamily="18" charset="0"/>
              <a:sym typeface="Ruda Black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0D362-2049-4F67-A1C0-4B1812696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5F6FF-3D43-4157-998F-058504204C3C}" type="slidenum">
              <a:rPr lang="fr-SN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fr-S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3D Model 7">
                <a:extLst>
                  <a:ext uri="{FF2B5EF4-FFF2-40B4-BE49-F238E27FC236}">
                    <a16:creationId xmlns:a16="http://schemas.microsoft.com/office/drawing/2014/main" id="{80BE6A88-5101-41C6-A253-0031A7F119B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87004392"/>
                  </p:ext>
                </p:extLst>
              </p:nvPr>
            </p:nvGraphicFramePr>
            <p:xfrm>
              <a:off x="2887757" y="-1842504"/>
              <a:ext cx="6416485" cy="1229561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6416485" cy="1229561"/>
                    </a:xfrm>
                    <a:prstGeom prst="rect">
                      <a:avLst/>
                    </a:prstGeom>
                  </am3d:spPr>
                  <am3d:camera>
                    <am3d:pos x="0" y="0" z="5290859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31" d="1000000"/>
                    <am3d:preTrans dx="10324180" dy="-49201" dz="-6590964"/>
                    <am3d:scale>
                      <am3d:sx n="1000000" d="1000000"/>
                      <am3d:sy n="1000000" d="1000000"/>
                      <am3d:sz n="1000000" d="1000000"/>
                    </am3d:scale>
                    <am3d:rot ax="20400000" ay="108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651598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3D Model 7">
                <a:extLst>
                  <a:ext uri="{FF2B5EF4-FFF2-40B4-BE49-F238E27FC236}">
                    <a16:creationId xmlns:a16="http://schemas.microsoft.com/office/drawing/2014/main" id="{80BE6A88-5101-41C6-A253-0031A7F119B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7757" y="-1842504"/>
                <a:ext cx="6416485" cy="1229561"/>
              </a:xfrm>
              <a:prstGeom prst="rect">
                <a:avLst/>
              </a:prstGeom>
            </p:spPr>
          </p:pic>
        </mc:Fallback>
      </mc:AlternateContent>
      <p:pic>
        <p:nvPicPr>
          <p:cNvPr id="2" name="Image 18" descr="R2D2_Clim1.png">
            <a:extLst>
              <a:ext uri="{FF2B5EF4-FFF2-40B4-BE49-F238E27FC236}">
                <a16:creationId xmlns:a16="http://schemas.microsoft.com/office/drawing/2014/main" id="{DB411B73-E4A8-6679-D80F-1B88E94ACA2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2213" y="3199065"/>
            <a:ext cx="3520187" cy="264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44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293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Roboto Slab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yikiédoin raphael sara</dc:creator>
  <cp:lastModifiedBy>Pierre Bommel</cp:lastModifiedBy>
  <cp:revision>77</cp:revision>
  <dcterms:created xsi:type="dcterms:W3CDTF">2025-11-11T22:39:12Z</dcterms:created>
  <dcterms:modified xsi:type="dcterms:W3CDTF">2025-11-12T22:12:28Z</dcterms:modified>
</cp:coreProperties>
</file>